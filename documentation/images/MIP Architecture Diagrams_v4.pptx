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6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 Mailli" initials="EM" lastIdx="4" clrIdx="0">
    <p:extLst>
      <p:ext uri="{19B8F6BF-5375-455C-9EA6-DF929625EA0E}">
        <p15:presenceInfo xmlns:p15="http://schemas.microsoft.com/office/powerpoint/2012/main" userId="f0e27bb03cb23c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8" autoAdjust="0"/>
    <p:restoredTop sz="96234" autoAdjust="0"/>
  </p:normalViewPr>
  <p:slideViewPr>
    <p:cSldViewPr snapToGrid="0">
      <p:cViewPr varScale="1">
        <p:scale>
          <a:sx n="96" d="100"/>
          <a:sy n="96" d="100"/>
        </p:scale>
        <p:origin x="184" y="6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8584-9A23-4759-8C75-8E353E8A1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EEE2C-9B41-489F-ADE7-8013A010B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FFCA-E695-4B76-856A-A1DDA75D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25582-451E-498F-BA28-F026E004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572F5-D7DD-4BC0-8956-30678C23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3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8967-2DBA-4720-B46C-E04556E5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8EA82-184C-44CB-8C3E-FFA495923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E8A3D-D86E-4182-9EEA-1727FEFD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21CE3-94D3-4024-ABB8-53428BE0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086AA-16C5-42D4-BDC8-87142021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0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D457-5E36-4B3A-BCAE-68A34A62C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A6BD3-44DC-49AF-AACC-C75890928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A624F-78C3-4AAA-A17F-A2E3B0CB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81D18-0FEB-4155-BF7F-14DBEE01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586A-38AF-489C-8994-282B9421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3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6BE7-E52B-4DA7-8302-CAE6AEE4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07A5-A720-4BFD-B8B3-101C78312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B779D-7761-42E0-A465-AE8CA404A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87AB7-FAA2-4678-A686-FC57402B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5150B-01DA-4A60-AEC4-3010875A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98102-E23B-4420-96F9-042BEB84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8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CAAF-70D0-440F-987A-C2DF1392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B3F6D-DADE-4B8D-A8FE-022ECDE8E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C6A3E-E725-41FA-9EFC-4E1CFD84E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FB4EC-F5B2-475C-BD60-8739AF037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3FD93-68E3-4DD3-AEA7-F95C79432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5CB02-B121-4753-B340-2C651271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7A91DD-867A-488D-B790-FB3381BA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71ACF-EAF3-434D-A2E2-C2D1FF9E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0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E607-F18F-4CFB-94F1-9579D282B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D15862-45FB-480A-8C6A-CEE1DA7D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55CF7-D823-42CA-A18F-56D7E547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BA927-E1D2-41E6-8445-F3A65436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8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ECC69-F2F7-4AE9-A1DA-447272CC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60901-8F18-4351-8747-F4C93530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ED8A3-5200-47E1-AD58-0EFA07F2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5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19E-FCCC-416E-9090-593C0C7D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4478-00DC-4BD1-8EC8-EFA61C9A6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C0BEE-08A7-440C-A750-A204C0590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EA35D-E03B-441C-BAA7-F116BD43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CE9A1-CBC5-4974-B82B-1D5BA8BF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58BB5-0472-46DA-8E20-380371C7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0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3B72-490D-425A-8613-96CA6A0D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C2E28-A9C9-4ACA-94FD-0238EFB69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F81EE-93C9-4341-AD55-6681223CB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E5AC1-470E-47F1-BED4-EE5F2FE0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5BC7B-6930-4817-8D0E-4CD7A06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8E887-E00E-40A5-AB3D-47DB06B1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2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923F-B5D2-4CEC-B12C-265A25E5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AD9E6-B977-4E33-BDE2-78C31E6DC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8D3C2-78D6-4E59-AAC3-5FE54058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C96AE-A4E0-49C4-BD75-161E75F6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312FC-E745-44F9-A2D0-EE872F4A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9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0E290-83EC-4856-B97A-D5927B21D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59D01-6CC3-4196-9061-E3A2AF457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DC281-E896-4B0D-B36A-9967B500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F287-0882-4E22-970D-F727670A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36BE8-3990-40CE-A5F5-D2750A90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8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407E49-1C65-48BB-BFE0-6041D59D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7CEED-B894-46F1-8AAF-19E236DD6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920F3-41C3-4850-9BA2-E9EE4B1AE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85C3A-DCF5-42B9-B679-F0DFC7D38A1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95C07-F2D4-4C4C-A985-44A4D6449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8F791-39E9-44C8-B213-4DECD73C4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081F3-CF45-409B-8CB0-0D01F156D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8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0E4C509D-6F35-E115-E10A-B6CD89A6667B}"/>
              </a:ext>
            </a:extLst>
          </p:cNvPr>
          <p:cNvGrpSpPr/>
          <p:nvPr/>
        </p:nvGrpSpPr>
        <p:grpSpPr>
          <a:xfrm>
            <a:off x="693479" y="342629"/>
            <a:ext cx="10342142" cy="6390061"/>
            <a:chOff x="693479" y="342629"/>
            <a:chExt cx="10342142" cy="639006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59316A8-B8EA-490E-908F-EB5FE537EB66}"/>
                </a:ext>
              </a:extLst>
            </p:cNvPr>
            <p:cNvSpPr/>
            <p:nvPr/>
          </p:nvSpPr>
          <p:spPr>
            <a:xfrm>
              <a:off x="3797241" y="1849298"/>
              <a:ext cx="5035527" cy="612559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API Gateway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E9BAB59-3595-4901-9F2F-3B8E4E689B0C}"/>
                </a:ext>
              </a:extLst>
            </p:cNvPr>
            <p:cNvSpPr/>
            <p:nvPr/>
          </p:nvSpPr>
          <p:spPr>
            <a:xfrm>
              <a:off x="1949758" y="1849298"/>
              <a:ext cx="1611233" cy="612559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Authentication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35FFCA-1A12-4A7A-B064-0100C395F48D}"/>
                </a:ext>
              </a:extLst>
            </p:cNvPr>
            <p:cNvSpPr/>
            <p:nvPr/>
          </p:nvSpPr>
          <p:spPr>
            <a:xfrm>
              <a:off x="2111742" y="2788988"/>
              <a:ext cx="1287263" cy="6125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OpenID</a:t>
              </a:r>
              <a:br>
                <a:rPr lang="en-US" sz="1400" b="1" dirty="0">
                  <a:solidFill>
                    <a:schemeClr val="tx1"/>
                  </a:solidFill>
                </a:rPr>
              </a:br>
              <a:r>
                <a:rPr lang="en-US" sz="1400" b="1" dirty="0" err="1">
                  <a:solidFill>
                    <a:schemeClr val="tx1"/>
                  </a:solidFill>
                </a:rPr>
                <a:t>AuthN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6FC1122-B9B1-449B-9EEF-D109E748087F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2755374" y="2461857"/>
              <a:ext cx="1" cy="32713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165E375-B81F-4C46-9C62-32C6BAAB0CF0}"/>
                </a:ext>
              </a:extLst>
            </p:cNvPr>
            <p:cNvSpPr/>
            <p:nvPr/>
          </p:nvSpPr>
          <p:spPr>
            <a:xfrm>
              <a:off x="4742559" y="2286723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Pathology API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E78DAB6-EF6B-4275-BB10-275633041E29}"/>
                </a:ext>
              </a:extLst>
            </p:cNvPr>
            <p:cNvSpPr/>
            <p:nvPr/>
          </p:nvSpPr>
          <p:spPr>
            <a:xfrm>
              <a:off x="5541195" y="22951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API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5172355-D9F8-4849-8A69-4F6B3F225443}"/>
                </a:ext>
              </a:extLst>
            </p:cNvPr>
            <p:cNvSpPr/>
            <p:nvPr/>
          </p:nvSpPr>
          <p:spPr>
            <a:xfrm>
              <a:off x="6335943" y="22951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Experiment API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A10DA0A-5282-45F9-B87B-C860CB5418D0}"/>
                </a:ext>
              </a:extLst>
            </p:cNvPr>
            <p:cNvSpPr/>
            <p:nvPr/>
          </p:nvSpPr>
          <p:spPr>
            <a:xfrm>
              <a:off x="7150616" y="22951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9DFA597-85E5-4FC5-884D-77EAC4215157}"/>
                </a:ext>
              </a:extLst>
            </p:cNvPr>
            <p:cNvSpPr/>
            <p:nvPr/>
          </p:nvSpPr>
          <p:spPr>
            <a:xfrm>
              <a:off x="8083701" y="22951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Workflow API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1645013-0DE4-48B3-9E21-082F46B5A640}"/>
                </a:ext>
              </a:extLst>
            </p:cNvPr>
            <p:cNvSpPr/>
            <p:nvPr/>
          </p:nvSpPr>
          <p:spPr>
            <a:xfrm>
              <a:off x="7303016" y="24475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D7D4A95-CE7C-4737-B4B6-9AEC7B7F1E22}"/>
                </a:ext>
              </a:extLst>
            </p:cNvPr>
            <p:cNvSpPr/>
            <p:nvPr/>
          </p:nvSpPr>
          <p:spPr>
            <a:xfrm>
              <a:off x="7455416" y="25999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9202E9D-505E-4599-AB34-015720BF59A2}"/>
                </a:ext>
              </a:extLst>
            </p:cNvPr>
            <p:cNvSpPr/>
            <p:nvPr/>
          </p:nvSpPr>
          <p:spPr>
            <a:xfrm>
              <a:off x="3947811" y="2295167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User Profile API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01A565-2B7D-4F11-95CB-24DFCA45740E}"/>
                </a:ext>
              </a:extLst>
            </p:cNvPr>
            <p:cNvCxnSpPr>
              <a:cxnSpLocks/>
            </p:cNvCxnSpPr>
            <p:nvPr/>
          </p:nvCxnSpPr>
          <p:spPr>
            <a:xfrm>
              <a:off x="777530" y="1360691"/>
              <a:ext cx="10121484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805355-A874-4E9E-AF60-1B67891F058D}"/>
                </a:ext>
              </a:extLst>
            </p:cNvPr>
            <p:cNvSpPr txBox="1"/>
            <p:nvPr/>
          </p:nvSpPr>
          <p:spPr>
            <a:xfrm>
              <a:off x="693479" y="1479966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MIP API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0712A7-3E6A-44AB-8AD7-63FA1929CEB4}"/>
                </a:ext>
              </a:extLst>
            </p:cNvPr>
            <p:cNvSpPr txBox="1"/>
            <p:nvPr/>
          </p:nvSpPr>
          <p:spPr>
            <a:xfrm>
              <a:off x="693479" y="752736"/>
              <a:ext cx="1100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User Interface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F18A3CE-573F-4159-AB1D-17F69D06BB92}"/>
                </a:ext>
              </a:extLst>
            </p:cNvPr>
            <p:cNvSpPr/>
            <p:nvPr/>
          </p:nvSpPr>
          <p:spPr>
            <a:xfrm>
              <a:off x="2499936" y="342629"/>
              <a:ext cx="5850384" cy="612559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User Interface</a:t>
              </a:r>
            </a:p>
          </p:txBody>
        </p:sp>
        <p:sp>
          <p:nvSpPr>
            <p:cNvPr id="25" name="Arrow: Up-Down 24">
              <a:extLst>
                <a:ext uri="{FF2B5EF4-FFF2-40B4-BE49-F238E27FC236}">
                  <a16:creationId xmlns:a16="http://schemas.microsoft.com/office/drawing/2014/main" id="{F5AE7B03-3AEE-49F3-ABC1-E71BCD844795}"/>
                </a:ext>
              </a:extLst>
            </p:cNvPr>
            <p:cNvSpPr/>
            <p:nvPr/>
          </p:nvSpPr>
          <p:spPr>
            <a:xfrm>
              <a:off x="2679567" y="1023716"/>
              <a:ext cx="463128" cy="757085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26" name="Arrow: Up-Down 25">
              <a:extLst>
                <a:ext uri="{FF2B5EF4-FFF2-40B4-BE49-F238E27FC236}">
                  <a16:creationId xmlns:a16="http://schemas.microsoft.com/office/drawing/2014/main" id="{EFDE1EBF-D6F8-406E-AC22-615866E509D4}"/>
                </a:ext>
              </a:extLst>
            </p:cNvPr>
            <p:cNvSpPr/>
            <p:nvPr/>
          </p:nvSpPr>
          <p:spPr>
            <a:xfrm>
              <a:off x="5811033" y="1023716"/>
              <a:ext cx="463128" cy="757085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55F875-E0D4-4134-B461-9C46A9DDA247}"/>
                </a:ext>
              </a:extLst>
            </p:cNvPr>
            <p:cNvCxnSpPr>
              <a:cxnSpLocks/>
            </p:cNvCxnSpPr>
            <p:nvPr/>
          </p:nvCxnSpPr>
          <p:spPr>
            <a:xfrm>
              <a:off x="777530" y="4875046"/>
              <a:ext cx="1025809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8592D76-219A-49EF-8CCE-4C7BF8C92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5280" y="4875046"/>
              <a:ext cx="0" cy="1438072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lowchart: Magnetic Disk 29">
              <a:extLst>
                <a:ext uri="{FF2B5EF4-FFF2-40B4-BE49-F238E27FC236}">
                  <a16:creationId xmlns:a16="http://schemas.microsoft.com/office/drawing/2014/main" id="{7EAF4547-CC60-482A-BCBF-9D0044072630}"/>
                </a:ext>
              </a:extLst>
            </p:cNvPr>
            <p:cNvSpPr/>
            <p:nvPr/>
          </p:nvSpPr>
          <p:spPr>
            <a:xfrm>
              <a:off x="9270239" y="3332373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Operational Data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AE7E44E-FB85-47A5-867E-711947F29558}"/>
                </a:ext>
              </a:extLst>
            </p:cNvPr>
            <p:cNvSpPr/>
            <p:nvPr/>
          </p:nvSpPr>
          <p:spPr>
            <a:xfrm>
              <a:off x="4381616" y="5106937"/>
              <a:ext cx="1611233" cy="423057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Factory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48F4D93-76E9-4224-A4B5-2644F824D32A}"/>
                </a:ext>
              </a:extLst>
            </p:cNvPr>
            <p:cNvSpPr/>
            <p:nvPr/>
          </p:nvSpPr>
          <p:spPr>
            <a:xfrm>
              <a:off x="4381616" y="5708285"/>
              <a:ext cx="1611233" cy="423057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912B93B-519A-4E39-8CC0-F7DFD55E88CF}"/>
                </a:ext>
              </a:extLst>
            </p:cNvPr>
            <p:cNvSpPr txBox="1"/>
            <p:nvPr/>
          </p:nvSpPr>
          <p:spPr>
            <a:xfrm>
              <a:off x="1986433" y="5003767"/>
              <a:ext cx="1109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MIP Local</a:t>
              </a:r>
            </a:p>
          </p:txBody>
        </p:sp>
        <p:sp>
          <p:nvSpPr>
            <p:cNvPr id="36" name="Flowchart: Magnetic Disk 35">
              <a:extLst>
                <a:ext uri="{FF2B5EF4-FFF2-40B4-BE49-F238E27FC236}">
                  <a16:creationId xmlns:a16="http://schemas.microsoft.com/office/drawing/2014/main" id="{81D66D30-9EEE-414D-BF76-F044B3D8883A}"/>
                </a:ext>
              </a:extLst>
            </p:cNvPr>
            <p:cNvSpPr/>
            <p:nvPr/>
          </p:nvSpPr>
          <p:spPr>
            <a:xfrm>
              <a:off x="6975852" y="5919584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Anonymized Clinical Data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2C919CE-2D25-4998-A64D-CF3E9C6BA296}"/>
                </a:ext>
              </a:extLst>
            </p:cNvPr>
            <p:cNvSpPr/>
            <p:nvPr/>
          </p:nvSpPr>
          <p:spPr>
            <a:xfrm>
              <a:off x="7453914" y="5529994"/>
              <a:ext cx="1539704" cy="4452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Analysis Stack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E386B29-B75D-415C-907D-6F7A9BF00D46}"/>
                </a:ext>
              </a:extLst>
            </p:cNvPr>
            <p:cNvSpPr/>
            <p:nvPr/>
          </p:nvSpPr>
          <p:spPr>
            <a:xfrm>
              <a:off x="9257774" y="5106937"/>
              <a:ext cx="1611233" cy="423057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Factory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2FED610-E264-4DB2-ADFE-C79EEC637BB2}"/>
                </a:ext>
              </a:extLst>
            </p:cNvPr>
            <p:cNvSpPr/>
            <p:nvPr/>
          </p:nvSpPr>
          <p:spPr>
            <a:xfrm>
              <a:off x="9257774" y="5708285"/>
              <a:ext cx="1611233" cy="423057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Privacy Compliance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C23EC63-33F4-4B9A-9D66-0A57476EA9CE}"/>
                </a:ext>
              </a:extLst>
            </p:cNvPr>
            <p:cNvSpPr/>
            <p:nvPr/>
          </p:nvSpPr>
          <p:spPr>
            <a:xfrm>
              <a:off x="9242325" y="6309633"/>
              <a:ext cx="1611233" cy="423057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41" name="Arrow: Up-Down 40">
              <a:extLst>
                <a:ext uri="{FF2B5EF4-FFF2-40B4-BE49-F238E27FC236}">
                  <a16:creationId xmlns:a16="http://schemas.microsoft.com/office/drawing/2014/main" id="{FFDE848A-4A72-4C0F-A1E7-92C3A5CF5139}"/>
                </a:ext>
              </a:extLst>
            </p:cNvPr>
            <p:cNvSpPr/>
            <p:nvPr/>
          </p:nvSpPr>
          <p:spPr>
            <a:xfrm rot="19008709">
              <a:off x="8895312" y="2509844"/>
              <a:ext cx="372386" cy="836720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26CC07-2E90-4678-9272-9D118E1E3980}"/>
                </a:ext>
              </a:extLst>
            </p:cNvPr>
            <p:cNvSpPr txBox="1"/>
            <p:nvPr/>
          </p:nvSpPr>
          <p:spPr>
            <a:xfrm>
              <a:off x="6917914" y="5044285"/>
              <a:ext cx="1585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MIP Federated</a:t>
              </a:r>
            </a:p>
          </p:txBody>
        </p:sp>
        <p:sp>
          <p:nvSpPr>
            <p:cNvPr id="43" name="Arrow: Up-Down 42">
              <a:extLst>
                <a:ext uri="{FF2B5EF4-FFF2-40B4-BE49-F238E27FC236}">
                  <a16:creationId xmlns:a16="http://schemas.microsoft.com/office/drawing/2014/main" id="{FA848B8B-DC98-45A6-9BC1-99EB5C612A8C}"/>
                </a:ext>
              </a:extLst>
            </p:cNvPr>
            <p:cNvSpPr/>
            <p:nvPr/>
          </p:nvSpPr>
          <p:spPr>
            <a:xfrm rot="1345638">
              <a:off x="3679026" y="4347388"/>
              <a:ext cx="463128" cy="757787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4" name="Arrow: Up-Down 43">
              <a:extLst>
                <a:ext uri="{FF2B5EF4-FFF2-40B4-BE49-F238E27FC236}">
                  <a16:creationId xmlns:a16="http://schemas.microsoft.com/office/drawing/2014/main" id="{C594CCF5-52AA-4F6C-84F4-7E079860DD7B}"/>
                </a:ext>
              </a:extLst>
            </p:cNvPr>
            <p:cNvSpPr/>
            <p:nvPr/>
          </p:nvSpPr>
          <p:spPr>
            <a:xfrm rot="20137644">
              <a:off x="7941813" y="4380057"/>
              <a:ext cx="463128" cy="757787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7" name="Flowchart: Magnetic Disk 46">
              <a:extLst>
                <a:ext uri="{FF2B5EF4-FFF2-40B4-BE49-F238E27FC236}">
                  <a16:creationId xmlns:a16="http://schemas.microsoft.com/office/drawing/2014/main" id="{35F00A67-C58D-4936-BD38-464BFFFE3EDD}"/>
                </a:ext>
              </a:extLst>
            </p:cNvPr>
            <p:cNvSpPr/>
            <p:nvPr/>
          </p:nvSpPr>
          <p:spPr>
            <a:xfrm>
              <a:off x="2054127" y="5924950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Pseudonymized Clinical Data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8E53F1-7231-476D-804C-810C44E640C8}"/>
                </a:ext>
              </a:extLst>
            </p:cNvPr>
            <p:cNvSpPr/>
            <p:nvPr/>
          </p:nvSpPr>
          <p:spPr>
            <a:xfrm>
              <a:off x="2577756" y="5551077"/>
              <a:ext cx="1539704" cy="4452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Analysis 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42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22D55808-81FE-889B-73D2-8D83564AC277}"/>
              </a:ext>
            </a:extLst>
          </p:cNvPr>
          <p:cNvGrpSpPr/>
          <p:nvPr/>
        </p:nvGrpSpPr>
        <p:grpSpPr>
          <a:xfrm>
            <a:off x="123547" y="-85725"/>
            <a:ext cx="11739892" cy="6943725"/>
            <a:chOff x="123547" y="-85725"/>
            <a:chExt cx="11739892" cy="694372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190B962-9D78-42E1-A663-E9B3CE217E95}"/>
                </a:ext>
              </a:extLst>
            </p:cNvPr>
            <p:cNvSpPr/>
            <p:nvPr/>
          </p:nvSpPr>
          <p:spPr>
            <a:xfrm>
              <a:off x="5601163" y="4395064"/>
              <a:ext cx="1907405" cy="231335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3C16936-2C60-44C8-9B95-037F88D684EE}"/>
                </a:ext>
              </a:extLst>
            </p:cNvPr>
            <p:cNvSpPr/>
            <p:nvPr/>
          </p:nvSpPr>
          <p:spPr>
            <a:xfrm>
              <a:off x="752475" y="144070"/>
              <a:ext cx="2790825" cy="385370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User Interface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8E7667F-67CC-42E1-B8AC-6F64848794D6}"/>
                </a:ext>
              </a:extLst>
            </p:cNvPr>
            <p:cNvSpPr/>
            <p:nvPr/>
          </p:nvSpPr>
          <p:spPr>
            <a:xfrm>
              <a:off x="1656705" y="961346"/>
              <a:ext cx="3612231" cy="612559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API Gateway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BA88E51-40C2-432C-836B-65FFF414271F}"/>
                </a:ext>
              </a:extLst>
            </p:cNvPr>
            <p:cNvSpPr/>
            <p:nvPr/>
          </p:nvSpPr>
          <p:spPr>
            <a:xfrm>
              <a:off x="123547" y="961346"/>
              <a:ext cx="1381403" cy="612559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Authentication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3AE363B-66F4-4CB3-B20F-165F08B9F774}"/>
                </a:ext>
              </a:extLst>
            </p:cNvPr>
            <p:cNvSpPr/>
            <p:nvPr/>
          </p:nvSpPr>
          <p:spPr>
            <a:xfrm>
              <a:off x="132076" y="1920086"/>
              <a:ext cx="1287263" cy="6125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OpenID</a:t>
              </a:r>
              <a:br>
                <a:rPr lang="en-US" sz="1400" b="1" dirty="0">
                  <a:solidFill>
                    <a:schemeClr val="tx1"/>
                  </a:solidFill>
                </a:rPr>
              </a:br>
              <a:r>
                <a:rPr lang="en-US" sz="1400" b="1" dirty="0" err="1">
                  <a:solidFill>
                    <a:schemeClr val="tx1"/>
                  </a:solidFill>
                </a:rPr>
                <a:t>AuthN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3A96DD-BCFA-42D8-A22A-0F9A0D82D383}"/>
                </a:ext>
              </a:extLst>
            </p:cNvPr>
            <p:cNvSpPr/>
            <p:nvPr/>
          </p:nvSpPr>
          <p:spPr>
            <a:xfrm>
              <a:off x="1656706" y="1920087"/>
              <a:ext cx="1539704" cy="405544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Analysis Stack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F3402F5-1D3F-4D8C-9596-A21A5E9BC74E}"/>
                </a:ext>
              </a:extLst>
            </p:cNvPr>
            <p:cNvCxnSpPr>
              <a:cxnSpLocks/>
            </p:cNvCxnSpPr>
            <p:nvPr/>
          </p:nvCxnSpPr>
          <p:spPr>
            <a:xfrm>
              <a:off x="2332416" y="1592955"/>
              <a:ext cx="0" cy="32713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Magnetic Disk 24">
              <a:extLst>
                <a:ext uri="{FF2B5EF4-FFF2-40B4-BE49-F238E27FC236}">
                  <a16:creationId xmlns:a16="http://schemas.microsoft.com/office/drawing/2014/main" id="{6DD39505-0086-4847-B056-CB1DF693FA82}"/>
                </a:ext>
              </a:extLst>
            </p:cNvPr>
            <p:cNvSpPr/>
            <p:nvPr/>
          </p:nvSpPr>
          <p:spPr>
            <a:xfrm>
              <a:off x="298251" y="5697128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Local Data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1D766C-6A13-44C4-A7ED-D2195AD4E755}"/>
                </a:ext>
              </a:extLst>
            </p:cNvPr>
            <p:cNvSpPr/>
            <p:nvPr/>
          </p:nvSpPr>
          <p:spPr>
            <a:xfrm>
              <a:off x="914453" y="4099118"/>
              <a:ext cx="1628770" cy="89567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A94C773-5991-4579-9E20-FE79C231A912}"/>
                </a:ext>
              </a:extLst>
            </p:cNvPr>
            <p:cNvSpPr/>
            <p:nvPr/>
          </p:nvSpPr>
          <p:spPr>
            <a:xfrm>
              <a:off x="1166315" y="4251535"/>
              <a:ext cx="119206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Executor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A3F5F34-4D66-48A1-8B31-6F03F189B024}"/>
                </a:ext>
              </a:extLst>
            </p:cNvPr>
            <p:cNvSpPr txBox="1"/>
            <p:nvPr/>
          </p:nvSpPr>
          <p:spPr>
            <a:xfrm>
              <a:off x="914453" y="4592572"/>
              <a:ext cx="892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Worker</a:t>
              </a:r>
            </a:p>
          </p:txBody>
        </p:sp>
        <p:sp>
          <p:nvSpPr>
            <p:cNvPr id="30" name="Flowchart: Multidocument 29">
              <a:extLst>
                <a:ext uri="{FF2B5EF4-FFF2-40B4-BE49-F238E27FC236}">
                  <a16:creationId xmlns:a16="http://schemas.microsoft.com/office/drawing/2014/main" id="{14F4A889-0E0E-4E6F-B351-59FA5D79686C}"/>
                </a:ext>
              </a:extLst>
            </p:cNvPr>
            <p:cNvSpPr/>
            <p:nvPr/>
          </p:nvSpPr>
          <p:spPr>
            <a:xfrm>
              <a:off x="3011614" y="4448923"/>
              <a:ext cx="1333500" cy="1167807"/>
            </a:xfrm>
            <a:prstGeom prst="flowChartMultidocumen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Library</a:t>
              </a:r>
            </a:p>
          </p:txBody>
        </p:sp>
        <p:sp>
          <p:nvSpPr>
            <p:cNvPr id="31" name="Flowchart: Magnetic Disk 30">
              <a:extLst>
                <a:ext uri="{FF2B5EF4-FFF2-40B4-BE49-F238E27FC236}">
                  <a16:creationId xmlns:a16="http://schemas.microsoft.com/office/drawing/2014/main" id="{9D5A51D3-19B7-4A4C-9A2E-FC902F204C67}"/>
                </a:ext>
              </a:extLst>
            </p:cNvPr>
            <p:cNvSpPr/>
            <p:nvPr/>
          </p:nvSpPr>
          <p:spPr>
            <a:xfrm>
              <a:off x="3184731" y="5355806"/>
              <a:ext cx="1333500" cy="723900"/>
            </a:xfrm>
            <a:prstGeom prst="flowChartMagneticDisk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Configuration</a:t>
              </a:r>
            </a:p>
          </p:txBody>
        </p:sp>
        <p:sp>
          <p:nvSpPr>
            <p:cNvPr id="32" name="Arrow: Up 31">
              <a:extLst>
                <a:ext uri="{FF2B5EF4-FFF2-40B4-BE49-F238E27FC236}">
                  <a16:creationId xmlns:a16="http://schemas.microsoft.com/office/drawing/2014/main" id="{B2AC77F7-C3AC-4ABB-B9A2-FED40139D765}"/>
                </a:ext>
              </a:extLst>
            </p:cNvPr>
            <p:cNvSpPr/>
            <p:nvPr/>
          </p:nvSpPr>
          <p:spPr>
            <a:xfrm rot="16200000">
              <a:off x="2576621" y="4500137"/>
              <a:ext cx="435297" cy="368056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65987CF0-CF31-474E-A0D7-33D9BD621289}"/>
                </a:ext>
              </a:extLst>
            </p:cNvPr>
            <p:cNvSpPr/>
            <p:nvPr/>
          </p:nvSpPr>
          <p:spPr>
            <a:xfrm rot="10800000">
              <a:off x="1838827" y="611262"/>
              <a:ext cx="544986" cy="318795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FC71ECD-16F5-4F0D-87C0-CA0778560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7001" y="-85725"/>
              <a:ext cx="3008" cy="694372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lowchart: Magnetic Disk 43">
              <a:extLst>
                <a:ext uri="{FF2B5EF4-FFF2-40B4-BE49-F238E27FC236}">
                  <a16:creationId xmlns:a16="http://schemas.microsoft.com/office/drawing/2014/main" id="{1EEEE696-504D-493E-A9E9-E79449713A7E}"/>
                </a:ext>
              </a:extLst>
            </p:cNvPr>
            <p:cNvSpPr/>
            <p:nvPr/>
          </p:nvSpPr>
          <p:spPr>
            <a:xfrm>
              <a:off x="3659211" y="2398812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Operational Data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00B5473-9504-453B-9AB7-E4A501D908B0}"/>
                </a:ext>
              </a:extLst>
            </p:cNvPr>
            <p:cNvCxnSpPr>
              <a:cxnSpLocks/>
            </p:cNvCxnSpPr>
            <p:nvPr/>
          </p:nvCxnSpPr>
          <p:spPr>
            <a:xfrm>
              <a:off x="775707" y="1592955"/>
              <a:ext cx="0" cy="32713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EE36B2A-71BF-47E5-AD87-CF29056EEFC7}"/>
                </a:ext>
              </a:extLst>
            </p:cNvPr>
            <p:cNvCxnSpPr>
              <a:cxnSpLocks/>
            </p:cNvCxnSpPr>
            <p:nvPr/>
          </p:nvCxnSpPr>
          <p:spPr>
            <a:xfrm>
              <a:off x="1904060" y="3695963"/>
              <a:ext cx="5720" cy="33442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Arrow: Up-Down 58">
              <a:extLst>
                <a:ext uri="{FF2B5EF4-FFF2-40B4-BE49-F238E27FC236}">
                  <a16:creationId xmlns:a16="http://schemas.microsoft.com/office/drawing/2014/main" id="{3DE82247-FB3D-4D5A-AEFF-0ADDD83D87B6}"/>
                </a:ext>
              </a:extLst>
            </p:cNvPr>
            <p:cNvSpPr/>
            <p:nvPr/>
          </p:nvSpPr>
          <p:spPr>
            <a:xfrm>
              <a:off x="947048" y="5075186"/>
              <a:ext cx="435304" cy="541544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60" name="Arrow: Up-Down 59">
              <a:extLst>
                <a:ext uri="{FF2B5EF4-FFF2-40B4-BE49-F238E27FC236}">
                  <a16:creationId xmlns:a16="http://schemas.microsoft.com/office/drawing/2014/main" id="{ABF4317A-8164-40CC-9054-FE339FEF341F}"/>
                </a:ext>
              </a:extLst>
            </p:cNvPr>
            <p:cNvSpPr/>
            <p:nvPr/>
          </p:nvSpPr>
          <p:spPr>
            <a:xfrm>
              <a:off x="4249222" y="1683060"/>
              <a:ext cx="435304" cy="642570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4082D27-6C75-4B22-91E3-36CD82EC7043}"/>
                </a:ext>
              </a:extLst>
            </p:cNvPr>
            <p:cNvSpPr txBox="1"/>
            <p:nvPr/>
          </p:nvSpPr>
          <p:spPr>
            <a:xfrm>
              <a:off x="4254555" y="361339"/>
              <a:ext cx="1109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MIP Local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11F966A-B829-4F80-AC36-4F09499C69F8}"/>
                </a:ext>
              </a:extLst>
            </p:cNvPr>
            <p:cNvSpPr txBox="1"/>
            <p:nvPr/>
          </p:nvSpPr>
          <p:spPr>
            <a:xfrm>
              <a:off x="5431427" y="359135"/>
              <a:ext cx="1585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MIP Federated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067243B-7236-41D0-8883-B38D506841AC}"/>
                </a:ext>
              </a:extLst>
            </p:cNvPr>
            <p:cNvSpPr/>
            <p:nvPr/>
          </p:nvSpPr>
          <p:spPr>
            <a:xfrm>
              <a:off x="7298610" y="159119"/>
              <a:ext cx="2790825" cy="385370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User Interface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63AC2118-E189-49D8-8E2C-355A372C7744}"/>
                </a:ext>
              </a:extLst>
            </p:cNvPr>
            <p:cNvSpPr/>
            <p:nvPr/>
          </p:nvSpPr>
          <p:spPr>
            <a:xfrm>
              <a:off x="7493247" y="961346"/>
              <a:ext cx="3473197" cy="612559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API Gateway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E1AC1B4-7DBE-4D5A-8E13-0FB6DE0294E8}"/>
                </a:ext>
              </a:extLst>
            </p:cNvPr>
            <p:cNvSpPr/>
            <p:nvPr/>
          </p:nvSpPr>
          <p:spPr>
            <a:xfrm>
              <a:off x="5960090" y="961346"/>
              <a:ext cx="1381403" cy="612559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Authentication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B9BF1DD-BF40-4581-9EA6-DF15C3FB080C}"/>
                </a:ext>
              </a:extLst>
            </p:cNvPr>
            <p:cNvSpPr/>
            <p:nvPr/>
          </p:nvSpPr>
          <p:spPr>
            <a:xfrm>
              <a:off x="5968619" y="1920086"/>
              <a:ext cx="1287263" cy="6125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OpenID</a:t>
              </a:r>
              <a:br>
                <a:rPr lang="en-US" sz="1400" b="1" dirty="0">
                  <a:solidFill>
                    <a:schemeClr val="tx1"/>
                  </a:solidFill>
                </a:rPr>
              </a:br>
              <a:r>
                <a:rPr lang="en-US" sz="1400" b="1" dirty="0" err="1">
                  <a:solidFill>
                    <a:schemeClr val="tx1"/>
                  </a:solidFill>
                </a:rPr>
                <a:t>AuthN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0874408-41DE-48A4-B415-D202B1ED76D6}"/>
                </a:ext>
              </a:extLst>
            </p:cNvPr>
            <p:cNvSpPr/>
            <p:nvPr/>
          </p:nvSpPr>
          <p:spPr>
            <a:xfrm>
              <a:off x="7508568" y="1843582"/>
              <a:ext cx="1539704" cy="491787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Analysis Stack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C878DD8-7BCE-4F0A-8AAA-8FC10AFCE7D7}"/>
                </a:ext>
              </a:extLst>
            </p:cNvPr>
            <p:cNvCxnSpPr>
              <a:cxnSpLocks/>
            </p:cNvCxnSpPr>
            <p:nvPr/>
          </p:nvCxnSpPr>
          <p:spPr>
            <a:xfrm>
              <a:off x="7899513" y="1592955"/>
              <a:ext cx="0" cy="234628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lowchart: Magnetic Disk 69">
              <a:extLst>
                <a:ext uri="{FF2B5EF4-FFF2-40B4-BE49-F238E27FC236}">
                  <a16:creationId xmlns:a16="http://schemas.microsoft.com/office/drawing/2014/main" id="{55BCF579-B2D2-4518-A969-0C4877B4D164}"/>
                </a:ext>
              </a:extLst>
            </p:cNvPr>
            <p:cNvSpPr/>
            <p:nvPr/>
          </p:nvSpPr>
          <p:spPr>
            <a:xfrm>
              <a:off x="5620430" y="5783265"/>
              <a:ext cx="1628775" cy="804298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Federated Data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549C528-D28B-439C-AFF1-D5B5AECE078F}"/>
                </a:ext>
              </a:extLst>
            </p:cNvPr>
            <p:cNvSpPr/>
            <p:nvPr/>
          </p:nvSpPr>
          <p:spPr>
            <a:xfrm>
              <a:off x="5669817" y="4526516"/>
              <a:ext cx="1628770" cy="79247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892EBEC-B71D-4A8F-B132-6633AD430A6A}"/>
                </a:ext>
              </a:extLst>
            </p:cNvPr>
            <p:cNvSpPr/>
            <p:nvPr/>
          </p:nvSpPr>
          <p:spPr>
            <a:xfrm>
              <a:off x="5921679" y="4678933"/>
              <a:ext cx="119206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Executor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2C8D094-4BB8-47C9-BAA9-5E5677C2F35B}"/>
                </a:ext>
              </a:extLst>
            </p:cNvPr>
            <p:cNvSpPr txBox="1"/>
            <p:nvPr/>
          </p:nvSpPr>
          <p:spPr>
            <a:xfrm>
              <a:off x="5669817" y="4962820"/>
              <a:ext cx="892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Worker</a:t>
              </a:r>
            </a:p>
          </p:txBody>
        </p:sp>
        <p:sp>
          <p:nvSpPr>
            <p:cNvPr id="74" name="Flowchart: Multidocument 73">
              <a:extLst>
                <a:ext uri="{FF2B5EF4-FFF2-40B4-BE49-F238E27FC236}">
                  <a16:creationId xmlns:a16="http://schemas.microsoft.com/office/drawing/2014/main" id="{1EA38AB7-93D7-4F93-9C4F-21C5B34B4CA5}"/>
                </a:ext>
              </a:extLst>
            </p:cNvPr>
            <p:cNvSpPr/>
            <p:nvPr/>
          </p:nvSpPr>
          <p:spPr>
            <a:xfrm>
              <a:off x="10356822" y="4797845"/>
              <a:ext cx="1333500" cy="1167807"/>
            </a:xfrm>
            <a:prstGeom prst="flowChartMultidocumen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Library</a:t>
              </a:r>
            </a:p>
          </p:txBody>
        </p:sp>
        <p:sp>
          <p:nvSpPr>
            <p:cNvPr id="75" name="Flowchart: Magnetic Disk 74">
              <a:extLst>
                <a:ext uri="{FF2B5EF4-FFF2-40B4-BE49-F238E27FC236}">
                  <a16:creationId xmlns:a16="http://schemas.microsoft.com/office/drawing/2014/main" id="{36D1F278-7759-431B-8ADA-59E38B441F7C}"/>
                </a:ext>
              </a:extLst>
            </p:cNvPr>
            <p:cNvSpPr/>
            <p:nvPr/>
          </p:nvSpPr>
          <p:spPr>
            <a:xfrm>
              <a:off x="10529939" y="5704728"/>
              <a:ext cx="1333500" cy="723900"/>
            </a:xfrm>
            <a:prstGeom prst="flowChartMagneticDisk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Configuration</a:t>
              </a:r>
            </a:p>
          </p:txBody>
        </p:sp>
        <p:sp>
          <p:nvSpPr>
            <p:cNvPr id="76" name="Arrow: Up 75">
              <a:extLst>
                <a:ext uri="{FF2B5EF4-FFF2-40B4-BE49-F238E27FC236}">
                  <a16:creationId xmlns:a16="http://schemas.microsoft.com/office/drawing/2014/main" id="{1D6FC6CF-E13B-4166-B4A3-716B57DC25E1}"/>
                </a:ext>
              </a:extLst>
            </p:cNvPr>
            <p:cNvSpPr/>
            <p:nvPr/>
          </p:nvSpPr>
          <p:spPr>
            <a:xfrm rot="16200000">
              <a:off x="9880742" y="5107750"/>
              <a:ext cx="435297" cy="368056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77" name="Flowchart: Magnetic Disk 76">
              <a:extLst>
                <a:ext uri="{FF2B5EF4-FFF2-40B4-BE49-F238E27FC236}">
                  <a16:creationId xmlns:a16="http://schemas.microsoft.com/office/drawing/2014/main" id="{F029ACCD-5F2A-4827-83D6-632759C15CE7}"/>
                </a:ext>
              </a:extLst>
            </p:cNvPr>
            <p:cNvSpPr/>
            <p:nvPr/>
          </p:nvSpPr>
          <p:spPr>
            <a:xfrm>
              <a:off x="9843497" y="2357343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Operational Data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80E118C-51D0-40D9-8B87-0C3E86CD8989}"/>
                </a:ext>
              </a:extLst>
            </p:cNvPr>
            <p:cNvCxnSpPr>
              <a:cxnSpLocks/>
            </p:cNvCxnSpPr>
            <p:nvPr/>
          </p:nvCxnSpPr>
          <p:spPr>
            <a:xfrm>
              <a:off x="6612250" y="1592955"/>
              <a:ext cx="0" cy="32713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BB99711F-8806-429D-8E0A-4BCA62177B5A}"/>
                </a:ext>
              </a:extLst>
            </p:cNvPr>
            <p:cNvCxnSpPr>
              <a:cxnSpLocks/>
            </p:cNvCxnSpPr>
            <p:nvPr/>
          </p:nvCxnSpPr>
          <p:spPr>
            <a:xfrm>
              <a:off x="7735103" y="2341083"/>
              <a:ext cx="0" cy="290607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Arrow: Up-Down 79">
              <a:extLst>
                <a:ext uri="{FF2B5EF4-FFF2-40B4-BE49-F238E27FC236}">
                  <a16:creationId xmlns:a16="http://schemas.microsoft.com/office/drawing/2014/main" id="{70B7F5EB-5FDC-4A71-ABBA-7D024B3CDB5A}"/>
                </a:ext>
              </a:extLst>
            </p:cNvPr>
            <p:cNvSpPr/>
            <p:nvPr/>
          </p:nvSpPr>
          <p:spPr>
            <a:xfrm>
              <a:off x="5710904" y="5382730"/>
              <a:ext cx="231663" cy="399739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81" name="Arrow: Up-Down 80">
              <a:extLst>
                <a:ext uri="{FF2B5EF4-FFF2-40B4-BE49-F238E27FC236}">
                  <a16:creationId xmlns:a16="http://schemas.microsoft.com/office/drawing/2014/main" id="{1E9EB0F9-866E-43C0-9527-DBB32ADB0E26}"/>
                </a:ext>
              </a:extLst>
            </p:cNvPr>
            <p:cNvSpPr/>
            <p:nvPr/>
          </p:nvSpPr>
          <p:spPr>
            <a:xfrm>
              <a:off x="10357744" y="1714773"/>
              <a:ext cx="435304" cy="568316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53C10DD-4B31-45A4-97BD-7E10A955B494}"/>
                </a:ext>
              </a:extLst>
            </p:cNvPr>
            <p:cNvSpPr/>
            <p:nvPr/>
          </p:nvSpPr>
          <p:spPr>
            <a:xfrm>
              <a:off x="7199474" y="2926490"/>
              <a:ext cx="1185756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Exareme2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4BB3174-9851-4990-A3D8-5ACB65FBFE78}"/>
                </a:ext>
              </a:extLst>
            </p:cNvPr>
            <p:cNvSpPr/>
            <p:nvPr/>
          </p:nvSpPr>
          <p:spPr>
            <a:xfrm>
              <a:off x="6985470" y="2631690"/>
              <a:ext cx="2243848" cy="1005130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73D9919-53D3-403A-B040-E08CEEDAD680}"/>
                </a:ext>
              </a:extLst>
            </p:cNvPr>
            <p:cNvSpPr txBox="1"/>
            <p:nvPr/>
          </p:nvSpPr>
          <p:spPr>
            <a:xfrm>
              <a:off x="7652228" y="3267245"/>
              <a:ext cx="1656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Analysis Engine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BEFD0E5-8DB4-431D-B391-5CA297144501}"/>
                </a:ext>
              </a:extLst>
            </p:cNvPr>
            <p:cNvSpPr txBox="1"/>
            <p:nvPr/>
          </p:nvSpPr>
          <p:spPr>
            <a:xfrm>
              <a:off x="6368976" y="5449387"/>
              <a:ext cx="11426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Hospital 1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4E11DDAF-BAD5-4AFE-A3D9-B684A2D04AA8}"/>
                </a:ext>
              </a:extLst>
            </p:cNvPr>
            <p:cNvSpPr/>
            <p:nvPr/>
          </p:nvSpPr>
          <p:spPr>
            <a:xfrm>
              <a:off x="5921679" y="4218194"/>
              <a:ext cx="165554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Privacy Compliance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6604A55-0B9D-479C-8E5E-EA3EB575E108}"/>
                </a:ext>
              </a:extLst>
            </p:cNvPr>
            <p:cNvSpPr/>
            <p:nvPr/>
          </p:nvSpPr>
          <p:spPr>
            <a:xfrm>
              <a:off x="7938303" y="4395064"/>
              <a:ext cx="1907405" cy="231335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91" name="Flowchart: Magnetic Disk 90">
              <a:extLst>
                <a:ext uri="{FF2B5EF4-FFF2-40B4-BE49-F238E27FC236}">
                  <a16:creationId xmlns:a16="http://schemas.microsoft.com/office/drawing/2014/main" id="{51ECA5BE-BE0A-4C1D-9F40-B8C3363DFF05}"/>
                </a:ext>
              </a:extLst>
            </p:cNvPr>
            <p:cNvSpPr/>
            <p:nvPr/>
          </p:nvSpPr>
          <p:spPr>
            <a:xfrm>
              <a:off x="7957570" y="5783265"/>
              <a:ext cx="1628775" cy="804298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Federated Data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64EA8DA-4AD2-4F62-86EB-CFE564B3B0B8}"/>
                </a:ext>
              </a:extLst>
            </p:cNvPr>
            <p:cNvSpPr/>
            <p:nvPr/>
          </p:nvSpPr>
          <p:spPr>
            <a:xfrm>
              <a:off x="8006957" y="4526516"/>
              <a:ext cx="1628770" cy="79247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15EF522D-6378-465F-868B-FE406175609F}"/>
                </a:ext>
              </a:extLst>
            </p:cNvPr>
            <p:cNvSpPr/>
            <p:nvPr/>
          </p:nvSpPr>
          <p:spPr>
            <a:xfrm>
              <a:off x="8258819" y="4678933"/>
              <a:ext cx="119206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Executor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636D962-01EB-43FE-93B7-07A941678CB4}"/>
                </a:ext>
              </a:extLst>
            </p:cNvPr>
            <p:cNvSpPr txBox="1"/>
            <p:nvPr/>
          </p:nvSpPr>
          <p:spPr>
            <a:xfrm>
              <a:off x="8006957" y="4962820"/>
              <a:ext cx="892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Worker</a:t>
              </a:r>
            </a:p>
          </p:txBody>
        </p:sp>
        <p:sp>
          <p:nvSpPr>
            <p:cNvPr id="95" name="Arrow: Up-Down 94">
              <a:extLst>
                <a:ext uri="{FF2B5EF4-FFF2-40B4-BE49-F238E27FC236}">
                  <a16:creationId xmlns:a16="http://schemas.microsoft.com/office/drawing/2014/main" id="{71FAD21E-AB44-40C8-9914-E8C3D6EFD3A5}"/>
                </a:ext>
              </a:extLst>
            </p:cNvPr>
            <p:cNvSpPr/>
            <p:nvPr/>
          </p:nvSpPr>
          <p:spPr>
            <a:xfrm>
              <a:off x="8048044" y="5382730"/>
              <a:ext cx="231663" cy="399739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EE1D27E-3FA5-4DD0-809E-A87251F0E7AF}"/>
                </a:ext>
              </a:extLst>
            </p:cNvPr>
            <p:cNvSpPr txBox="1"/>
            <p:nvPr/>
          </p:nvSpPr>
          <p:spPr>
            <a:xfrm>
              <a:off x="8677541" y="5449387"/>
              <a:ext cx="1177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Hospital N</a:t>
              </a:r>
            </a:p>
          </p:txBody>
        </p: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4B36DFEA-B196-4356-8149-61770E01CAC9}"/>
                </a:ext>
              </a:extLst>
            </p:cNvPr>
            <p:cNvCxnSpPr>
              <a:cxnSpLocks/>
              <a:stCxn id="89" idx="0"/>
              <a:endCxn id="83" idx="2"/>
            </p:cNvCxnSpPr>
            <p:nvPr/>
          </p:nvCxnSpPr>
          <p:spPr>
            <a:xfrm rot="5400000" flipH="1" flipV="1">
              <a:off x="7137735" y="3248536"/>
              <a:ext cx="581374" cy="135794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EDE79C4A-96FA-4059-BD4E-6A3760B35146}"/>
                </a:ext>
              </a:extLst>
            </p:cNvPr>
            <p:cNvCxnSpPr>
              <a:cxnSpLocks/>
              <a:stCxn id="87" idx="0"/>
              <a:endCxn id="83" idx="2"/>
            </p:cNvCxnSpPr>
            <p:nvPr/>
          </p:nvCxnSpPr>
          <p:spPr>
            <a:xfrm rot="16200000" flipV="1">
              <a:off x="8311388" y="3432827"/>
              <a:ext cx="579399" cy="98738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Arrow: Up 116">
              <a:extLst>
                <a:ext uri="{FF2B5EF4-FFF2-40B4-BE49-F238E27FC236}">
                  <a16:creationId xmlns:a16="http://schemas.microsoft.com/office/drawing/2014/main" id="{DB9E834B-170B-4C55-A656-037C2D77AF1B}"/>
                </a:ext>
              </a:extLst>
            </p:cNvPr>
            <p:cNvSpPr/>
            <p:nvPr/>
          </p:nvSpPr>
          <p:spPr>
            <a:xfrm rot="10800000">
              <a:off x="8345649" y="611263"/>
              <a:ext cx="544986" cy="318795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702B11E3-A8D2-48EF-ABCD-38C0D62FB0D4}"/>
                </a:ext>
              </a:extLst>
            </p:cNvPr>
            <p:cNvSpPr/>
            <p:nvPr/>
          </p:nvSpPr>
          <p:spPr>
            <a:xfrm>
              <a:off x="8267007" y="4216219"/>
              <a:ext cx="165554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Privacy Compliance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B893F20-C0C6-4095-AAA1-209E32750CD0}"/>
                </a:ext>
              </a:extLst>
            </p:cNvPr>
            <p:cNvSpPr/>
            <p:nvPr/>
          </p:nvSpPr>
          <p:spPr>
            <a:xfrm>
              <a:off x="8360822" y="2267962"/>
              <a:ext cx="1407534" cy="48519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Resource Management Stack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09A8435-50BB-4135-83A8-9A9406C82F54}"/>
                </a:ext>
              </a:extLst>
            </p:cNvPr>
            <p:cNvSpPr txBox="1"/>
            <p:nvPr/>
          </p:nvSpPr>
          <p:spPr>
            <a:xfrm>
              <a:off x="7535803" y="5182407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…</a:t>
              </a: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DC559D5A-F4E1-4114-9920-C3DD28EC873B}"/>
                </a:ext>
              </a:extLst>
            </p:cNvPr>
            <p:cNvSpPr/>
            <p:nvPr/>
          </p:nvSpPr>
          <p:spPr>
            <a:xfrm>
              <a:off x="977723" y="2911158"/>
              <a:ext cx="1219106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Exareme2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A0C490D-1647-4CE0-AF16-77E87203F119}"/>
                </a:ext>
              </a:extLst>
            </p:cNvPr>
            <p:cNvSpPr/>
            <p:nvPr/>
          </p:nvSpPr>
          <p:spPr>
            <a:xfrm>
              <a:off x="760810" y="2639733"/>
              <a:ext cx="2243848" cy="1005130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0618FE1-CBD5-4685-AE4E-5F25633A9FC6}"/>
                </a:ext>
              </a:extLst>
            </p:cNvPr>
            <p:cNvSpPr txBox="1"/>
            <p:nvPr/>
          </p:nvSpPr>
          <p:spPr>
            <a:xfrm>
              <a:off x="1427568" y="3275288"/>
              <a:ext cx="1656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Analysis Engine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8F08D3F-AFDB-4EE9-B25B-6DFF20A09501}"/>
                </a:ext>
              </a:extLst>
            </p:cNvPr>
            <p:cNvSpPr/>
            <p:nvPr/>
          </p:nvSpPr>
          <p:spPr>
            <a:xfrm>
              <a:off x="2182928" y="2234189"/>
              <a:ext cx="1407534" cy="48519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Resource Management 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8009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65884AC-86B8-7E7E-BE8D-40E0D612A79E}"/>
              </a:ext>
            </a:extLst>
          </p:cNvPr>
          <p:cNvGrpSpPr/>
          <p:nvPr/>
        </p:nvGrpSpPr>
        <p:grpSpPr>
          <a:xfrm>
            <a:off x="1046586" y="438150"/>
            <a:ext cx="10224221" cy="6210300"/>
            <a:chOff x="1046586" y="438150"/>
            <a:chExt cx="10224221" cy="62103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8BEE00D-CB20-440B-878F-F87A72C48070}"/>
                </a:ext>
              </a:extLst>
            </p:cNvPr>
            <p:cNvSpPr/>
            <p:nvPr/>
          </p:nvSpPr>
          <p:spPr>
            <a:xfrm>
              <a:off x="8804325" y="4631381"/>
              <a:ext cx="2237961" cy="19919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4" name="Flowchart: Magnetic Disk 3">
              <a:extLst>
                <a:ext uri="{FF2B5EF4-FFF2-40B4-BE49-F238E27FC236}">
                  <a16:creationId xmlns:a16="http://schemas.microsoft.com/office/drawing/2014/main" id="{5B772B6B-92BC-4FCC-855F-A581A3529631}"/>
                </a:ext>
              </a:extLst>
            </p:cNvPr>
            <p:cNvSpPr/>
            <p:nvPr/>
          </p:nvSpPr>
          <p:spPr>
            <a:xfrm>
              <a:off x="2628966" y="923798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Clinical Dataset</a:t>
              </a:r>
            </a:p>
          </p:txBody>
        </p:sp>
        <p:sp>
          <p:nvSpPr>
            <p:cNvPr id="5" name="Flowchart: Magnetic Disk 4">
              <a:extLst>
                <a:ext uri="{FF2B5EF4-FFF2-40B4-BE49-F238E27FC236}">
                  <a16:creationId xmlns:a16="http://schemas.microsoft.com/office/drawing/2014/main" id="{B79ACDA6-EA41-4DEF-8D14-167C65078BF4}"/>
                </a:ext>
              </a:extLst>
            </p:cNvPr>
            <p:cNvSpPr/>
            <p:nvPr/>
          </p:nvSpPr>
          <p:spPr>
            <a:xfrm>
              <a:off x="4553016" y="923798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Operational Data</a:t>
              </a:r>
            </a:p>
          </p:txBody>
        </p:sp>
        <p:sp>
          <p:nvSpPr>
            <p:cNvPr id="7" name="Flowchart: Magnetic Disk 6">
              <a:extLst>
                <a:ext uri="{FF2B5EF4-FFF2-40B4-BE49-F238E27FC236}">
                  <a16:creationId xmlns:a16="http://schemas.microsoft.com/office/drawing/2014/main" id="{E07CAE34-57AB-4CF3-BDB6-3529E8A0C91A}"/>
                </a:ext>
              </a:extLst>
            </p:cNvPr>
            <p:cNvSpPr/>
            <p:nvPr/>
          </p:nvSpPr>
          <p:spPr>
            <a:xfrm>
              <a:off x="3561836" y="1971548"/>
              <a:ext cx="1628775" cy="723900"/>
            </a:xfrm>
            <a:prstGeom prst="flowChartMagneticDisk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CDE/</a:t>
              </a:r>
              <a:r>
                <a:rPr lang="en-US" sz="1400" b="1" dirty="0" err="1">
                  <a:solidFill>
                    <a:schemeClr val="tx1"/>
                  </a:solidFill>
                </a:rPr>
                <a:t>Datamodel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E304CC-72C0-469D-9BCC-99AB0D719D9F}"/>
                </a:ext>
              </a:extLst>
            </p:cNvPr>
            <p:cNvSpPr/>
            <p:nvPr/>
          </p:nvSpPr>
          <p:spPr>
            <a:xfrm>
              <a:off x="2419416" y="438150"/>
              <a:ext cx="4019108" cy="2552700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45EAE8-9F9B-412D-B4C7-764215A3CB55}"/>
                </a:ext>
              </a:extLst>
            </p:cNvPr>
            <p:cNvSpPr txBox="1"/>
            <p:nvPr/>
          </p:nvSpPr>
          <p:spPr>
            <a:xfrm>
              <a:off x="2628966" y="525891"/>
              <a:ext cx="1446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Local Storage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A58A237-35CD-4D44-8D3E-5EF06201B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5066" y="449691"/>
              <a:ext cx="0" cy="2605783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CDD578A-42F9-495B-B4CC-E214DD13E75B}"/>
                </a:ext>
              </a:extLst>
            </p:cNvPr>
            <p:cNvSpPr/>
            <p:nvPr/>
          </p:nvSpPr>
          <p:spPr>
            <a:xfrm>
              <a:off x="1046586" y="895223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Data Pre-processing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D573F6E-4715-4D74-9938-4A9CB3C5A679}"/>
                </a:ext>
              </a:extLst>
            </p:cNvPr>
            <p:cNvSpPr/>
            <p:nvPr/>
          </p:nvSpPr>
          <p:spPr>
            <a:xfrm>
              <a:off x="9567183" y="832109"/>
              <a:ext cx="410805" cy="175508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User Interface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C64405-A0F5-41E1-8F27-AA623ACB2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7276" y="459123"/>
              <a:ext cx="0" cy="2605783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D1C344C8-0C32-418D-8546-BB11FE2598FE}"/>
                </a:ext>
              </a:extLst>
            </p:cNvPr>
            <p:cNvSpPr/>
            <p:nvPr/>
          </p:nvSpPr>
          <p:spPr>
            <a:xfrm rot="16200000">
              <a:off x="8848996" y="1528875"/>
              <a:ext cx="494899" cy="590546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301BC40-EA36-45B6-B2E7-6FA081DC7162}"/>
                </a:ext>
              </a:extLst>
            </p:cNvPr>
            <p:cNvSpPr/>
            <p:nvPr/>
          </p:nvSpPr>
          <p:spPr>
            <a:xfrm>
              <a:off x="8286082" y="438150"/>
              <a:ext cx="410805" cy="272933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API Gateway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1E339D0-366B-4D34-A046-8AEB4E3286AD}"/>
                </a:ext>
              </a:extLst>
            </p:cNvPr>
            <p:cNvSpPr/>
            <p:nvPr/>
          </p:nvSpPr>
          <p:spPr>
            <a:xfrm>
              <a:off x="6976716" y="471728"/>
              <a:ext cx="133456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AuthN</a:t>
              </a:r>
              <a:r>
                <a:rPr lang="en-US" sz="1400" b="1" dirty="0">
                  <a:solidFill>
                    <a:schemeClr val="tx1"/>
                  </a:solidFill>
                </a:rPr>
                <a:t> / </a:t>
              </a:r>
              <a:r>
                <a:rPr lang="en-US" sz="1400" b="1" dirty="0" err="1">
                  <a:solidFill>
                    <a:schemeClr val="tx1"/>
                  </a:solidFill>
                </a:rPr>
                <a:t>AuthZ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C292415-49AA-42A9-874E-4653C6C62295}"/>
                </a:ext>
              </a:extLst>
            </p:cNvPr>
            <p:cNvSpPr/>
            <p:nvPr/>
          </p:nvSpPr>
          <p:spPr>
            <a:xfrm>
              <a:off x="6976716" y="864652"/>
              <a:ext cx="133456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Pathology API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35B5D0F-98D5-449F-B7BF-AAEE8D9A306F}"/>
                </a:ext>
              </a:extLst>
            </p:cNvPr>
            <p:cNvSpPr/>
            <p:nvPr/>
          </p:nvSpPr>
          <p:spPr>
            <a:xfrm>
              <a:off x="6976716" y="1263068"/>
              <a:ext cx="1334564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API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F28BB4B-C9D6-4DC8-A623-7CC50D478270}"/>
                </a:ext>
              </a:extLst>
            </p:cNvPr>
            <p:cNvSpPr/>
            <p:nvPr/>
          </p:nvSpPr>
          <p:spPr>
            <a:xfrm>
              <a:off x="6976716" y="1661484"/>
              <a:ext cx="1334564" cy="34326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User Profile API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33855D0-C17E-4C13-A74B-D5BE9ED07311}"/>
                </a:ext>
              </a:extLst>
            </p:cNvPr>
            <p:cNvSpPr/>
            <p:nvPr/>
          </p:nvSpPr>
          <p:spPr>
            <a:xfrm>
              <a:off x="6976716" y="2453584"/>
              <a:ext cx="1334564" cy="3482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Experiment API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5CD4918-E564-4659-A0AD-C6FFBD29FEBA}"/>
                </a:ext>
              </a:extLst>
            </p:cNvPr>
            <p:cNvSpPr txBox="1"/>
            <p:nvPr/>
          </p:nvSpPr>
          <p:spPr>
            <a:xfrm>
              <a:off x="1924027" y="3169121"/>
              <a:ext cx="1894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Algorithm Factory</a:t>
              </a:r>
            </a:p>
          </p:txBody>
        </p:sp>
        <p:sp>
          <p:nvSpPr>
            <p:cNvPr id="25" name="Flowchart: Multidocument 24">
              <a:extLst>
                <a:ext uri="{FF2B5EF4-FFF2-40B4-BE49-F238E27FC236}">
                  <a16:creationId xmlns:a16="http://schemas.microsoft.com/office/drawing/2014/main" id="{6A7329F3-CCC6-4455-A1C2-A2CF4F36090F}"/>
                </a:ext>
              </a:extLst>
            </p:cNvPr>
            <p:cNvSpPr/>
            <p:nvPr/>
          </p:nvSpPr>
          <p:spPr>
            <a:xfrm>
              <a:off x="7757899" y="3405446"/>
              <a:ext cx="1333500" cy="1167807"/>
            </a:xfrm>
            <a:prstGeom prst="flowChartMultidocumen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Library</a:t>
              </a:r>
            </a:p>
          </p:txBody>
        </p:sp>
        <p:sp>
          <p:nvSpPr>
            <p:cNvPr id="26" name="Flowchart: Magnetic Disk 25">
              <a:extLst>
                <a:ext uri="{FF2B5EF4-FFF2-40B4-BE49-F238E27FC236}">
                  <a16:creationId xmlns:a16="http://schemas.microsoft.com/office/drawing/2014/main" id="{B2A2AFB2-B68E-4436-B41D-3726EE51BD9E}"/>
                </a:ext>
              </a:extLst>
            </p:cNvPr>
            <p:cNvSpPr/>
            <p:nvPr/>
          </p:nvSpPr>
          <p:spPr>
            <a:xfrm>
              <a:off x="8801172" y="3185805"/>
              <a:ext cx="1628775" cy="723900"/>
            </a:xfrm>
            <a:prstGeom prst="flowChartMagneticDisk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Configuration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C99DD12-55AA-4850-9D05-525FE615D3B2}"/>
                </a:ext>
              </a:extLst>
            </p:cNvPr>
            <p:cNvSpPr/>
            <p:nvPr/>
          </p:nvSpPr>
          <p:spPr>
            <a:xfrm>
              <a:off x="4831288" y="3628070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Algorithm Selection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7F35B99-9755-497D-A81D-558315FA0D3B}"/>
                </a:ext>
              </a:extLst>
            </p:cNvPr>
            <p:cNvSpPr/>
            <p:nvPr/>
          </p:nvSpPr>
          <p:spPr>
            <a:xfrm>
              <a:off x="4831288" y="4013088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Configuration Binding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803295F-20B0-44E9-833E-B1BBB8D21230}"/>
                </a:ext>
              </a:extLst>
            </p:cNvPr>
            <p:cNvSpPr/>
            <p:nvPr/>
          </p:nvSpPr>
          <p:spPr>
            <a:xfrm>
              <a:off x="4831288" y="4401215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Model Binding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F08B1F0-EF6E-4DE5-B766-FB46BBFDA5EF}"/>
                </a:ext>
              </a:extLst>
            </p:cNvPr>
            <p:cNvSpPr/>
            <p:nvPr/>
          </p:nvSpPr>
          <p:spPr>
            <a:xfrm>
              <a:off x="4831288" y="4788829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Experiment Context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A14499-B3C0-4E95-AC86-F59CA3B184CB}"/>
                </a:ext>
              </a:extLst>
            </p:cNvPr>
            <p:cNvSpPr/>
            <p:nvPr/>
          </p:nvSpPr>
          <p:spPr>
            <a:xfrm>
              <a:off x="4542119" y="3480122"/>
              <a:ext cx="2363572" cy="3168328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C9E5A7-0FF8-4B7F-BEFD-16952B868DC7}"/>
                </a:ext>
              </a:extLst>
            </p:cNvPr>
            <p:cNvSpPr txBox="1"/>
            <p:nvPr/>
          </p:nvSpPr>
          <p:spPr>
            <a:xfrm>
              <a:off x="5441984" y="6251048"/>
              <a:ext cx="1524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Analysis Stack</a:t>
              </a:r>
            </a:p>
          </p:txBody>
        </p:sp>
        <p:sp>
          <p:nvSpPr>
            <p:cNvPr id="35" name="Flowchart: Magnetic Disk 34">
              <a:extLst>
                <a:ext uri="{FF2B5EF4-FFF2-40B4-BE49-F238E27FC236}">
                  <a16:creationId xmlns:a16="http://schemas.microsoft.com/office/drawing/2014/main" id="{67DEBB72-1580-4B8C-85BC-97E6B8FD6535}"/>
                </a:ext>
              </a:extLst>
            </p:cNvPr>
            <p:cNvSpPr/>
            <p:nvPr/>
          </p:nvSpPr>
          <p:spPr>
            <a:xfrm>
              <a:off x="1962022" y="3827176"/>
              <a:ext cx="1628775" cy="723900"/>
            </a:xfrm>
            <a:prstGeom prst="flowChartMagneticDisk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Experiment Data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DCC243-D996-4315-82DF-1CF61BA8D5B6}"/>
                </a:ext>
              </a:extLst>
            </p:cNvPr>
            <p:cNvSpPr/>
            <p:nvPr/>
          </p:nvSpPr>
          <p:spPr>
            <a:xfrm>
              <a:off x="2308410" y="5439434"/>
              <a:ext cx="2363572" cy="89567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DE2CDAE-9BA6-44E9-BFA6-689E75738E15}"/>
                </a:ext>
              </a:extLst>
            </p:cNvPr>
            <p:cNvSpPr/>
            <p:nvPr/>
          </p:nvSpPr>
          <p:spPr>
            <a:xfrm>
              <a:off x="2560272" y="5600975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Executor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7CF20CA-A92D-4135-9E22-BC88A0F5B9FB}"/>
                </a:ext>
              </a:extLst>
            </p:cNvPr>
            <p:cNvSpPr txBox="1"/>
            <p:nvPr/>
          </p:nvSpPr>
          <p:spPr>
            <a:xfrm>
              <a:off x="2308410" y="5942012"/>
              <a:ext cx="892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Worker</a:t>
              </a:r>
            </a:p>
          </p:txBody>
        </p:sp>
        <p:sp>
          <p:nvSpPr>
            <p:cNvPr id="41" name="Arrow: Up 40">
              <a:extLst>
                <a:ext uri="{FF2B5EF4-FFF2-40B4-BE49-F238E27FC236}">
                  <a16:creationId xmlns:a16="http://schemas.microsoft.com/office/drawing/2014/main" id="{68E4B09E-9061-4A36-8F0E-D572E4AB5CB5}"/>
                </a:ext>
              </a:extLst>
            </p:cNvPr>
            <p:cNvSpPr/>
            <p:nvPr/>
          </p:nvSpPr>
          <p:spPr>
            <a:xfrm rot="16200000">
              <a:off x="7059302" y="3820648"/>
              <a:ext cx="544986" cy="673920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2" name="Arrow: Up-Down 41">
              <a:extLst>
                <a:ext uri="{FF2B5EF4-FFF2-40B4-BE49-F238E27FC236}">
                  <a16:creationId xmlns:a16="http://schemas.microsoft.com/office/drawing/2014/main" id="{2AC28BB8-F728-4FCC-869D-ECC7E3814B48}"/>
                </a:ext>
              </a:extLst>
            </p:cNvPr>
            <p:cNvSpPr/>
            <p:nvPr/>
          </p:nvSpPr>
          <p:spPr>
            <a:xfrm rot="13362496">
              <a:off x="6968924" y="2786823"/>
              <a:ext cx="538282" cy="764008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3" name="Arrow: Up-Down 42">
              <a:extLst>
                <a:ext uri="{FF2B5EF4-FFF2-40B4-BE49-F238E27FC236}">
                  <a16:creationId xmlns:a16="http://schemas.microsoft.com/office/drawing/2014/main" id="{EB3EC597-19EE-45A8-A98E-CED6E2335F73}"/>
                </a:ext>
              </a:extLst>
            </p:cNvPr>
            <p:cNvSpPr/>
            <p:nvPr/>
          </p:nvSpPr>
          <p:spPr>
            <a:xfrm rot="16200000">
              <a:off x="6282376" y="1418867"/>
              <a:ext cx="484745" cy="800410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4" name="Arrow: Up 43">
              <a:extLst>
                <a:ext uri="{FF2B5EF4-FFF2-40B4-BE49-F238E27FC236}">
                  <a16:creationId xmlns:a16="http://schemas.microsoft.com/office/drawing/2014/main" id="{17B5FB64-FF49-4A0B-AC7F-26D2D3D06673}"/>
                </a:ext>
              </a:extLst>
            </p:cNvPr>
            <p:cNvSpPr/>
            <p:nvPr/>
          </p:nvSpPr>
          <p:spPr>
            <a:xfrm rot="10800000">
              <a:off x="4128123" y="2780025"/>
              <a:ext cx="544986" cy="598929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6" name="Arrow: Up 45">
              <a:extLst>
                <a:ext uri="{FF2B5EF4-FFF2-40B4-BE49-F238E27FC236}">
                  <a16:creationId xmlns:a16="http://schemas.microsoft.com/office/drawing/2014/main" id="{AB0DF28E-B6C3-4463-B3FA-26B03EF50818}"/>
                </a:ext>
              </a:extLst>
            </p:cNvPr>
            <p:cNvSpPr/>
            <p:nvPr/>
          </p:nvSpPr>
          <p:spPr>
            <a:xfrm rot="5400000">
              <a:off x="1709444" y="1447851"/>
              <a:ext cx="494899" cy="752596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2570050-F062-4A33-ABDB-789FEDF3FB9D}"/>
                </a:ext>
              </a:extLst>
            </p:cNvPr>
            <p:cNvSpPr/>
            <p:nvPr/>
          </p:nvSpPr>
          <p:spPr>
            <a:xfrm>
              <a:off x="6829607" y="4852032"/>
              <a:ext cx="2055054" cy="120529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34F98D-2963-4806-A7CE-D9F5107CA055}"/>
                </a:ext>
              </a:extLst>
            </p:cNvPr>
            <p:cNvSpPr txBox="1"/>
            <p:nvPr/>
          </p:nvSpPr>
          <p:spPr>
            <a:xfrm>
              <a:off x="7272634" y="5659921"/>
              <a:ext cx="1656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Analysis Engine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73401DE-EE5D-44D9-94A9-6BCDE08559F3}"/>
                </a:ext>
              </a:extLst>
            </p:cNvPr>
            <p:cNvSpPr/>
            <p:nvPr/>
          </p:nvSpPr>
          <p:spPr>
            <a:xfrm>
              <a:off x="7125490" y="5241305"/>
              <a:ext cx="1158087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Exareme2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69596EAE-B0DB-4650-9608-25ECB2389B64}"/>
                </a:ext>
              </a:extLst>
            </p:cNvPr>
            <p:cNvSpPr/>
            <p:nvPr/>
          </p:nvSpPr>
          <p:spPr>
            <a:xfrm>
              <a:off x="4823098" y="5189805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2780F92-6B3B-4592-A2F4-BA35EF3B5E4F}"/>
                </a:ext>
              </a:extLst>
            </p:cNvPr>
            <p:cNvSpPr txBox="1"/>
            <p:nvPr/>
          </p:nvSpPr>
          <p:spPr>
            <a:xfrm>
              <a:off x="9116511" y="5943387"/>
              <a:ext cx="21542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Resource Management Stack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39B5454-468C-4651-A797-4C39902E750F}"/>
                </a:ext>
              </a:extLst>
            </p:cNvPr>
            <p:cNvSpPr/>
            <p:nvPr/>
          </p:nvSpPr>
          <p:spPr>
            <a:xfrm>
              <a:off x="9104460" y="4722564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Orchestrator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3861922-3067-42BF-B3C6-651FB58371E0}"/>
                </a:ext>
              </a:extLst>
            </p:cNvPr>
            <p:cNvSpPr/>
            <p:nvPr/>
          </p:nvSpPr>
          <p:spPr>
            <a:xfrm>
              <a:off x="9104460" y="5143455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D3A7FA07-0783-4E63-907E-4C54200218E6}"/>
                </a:ext>
              </a:extLst>
            </p:cNvPr>
            <p:cNvSpPr/>
            <p:nvPr/>
          </p:nvSpPr>
          <p:spPr>
            <a:xfrm>
              <a:off x="9114075" y="5560100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Scheduler</a:t>
              </a:r>
            </a:p>
          </p:txBody>
        </p:sp>
        <p:sp>
          <p:nvSpPr>
            <p:cNvPr id="59" name="Arrow: Up-Down 58">
              <a:extLst>
                <a:ext uri="{FF2B5EF4-FFF2-40B4-BE49-F238E27FC236}">
                  <a16:creationId xmlns:a16="http://schemas.microsoft.com/office/drawing/2014/main" id="{DC3754C7-87E7-4036-81D7-462A87C9BC9E}"/>
                </a:ext>
              </a:extLst>
            </p:cNvPr>
            <p:cNvSpPr/>
            <p:nvPr/>
          </p:nvSpPr>
          <p:spPr>
            <a:xfrm rot="10800000">
              <a:off x="2476967" y="4627087"/>
              <a:ext cx="481720" cy="723901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60" name="Arrow: Up-Down 59">
              <a:extLst>
                <a:ext uri="{FF2B5EF4-FFF2-40B4-BE49-F238E27FC236}">
                  <a16:creationId xmlns:a16="http://schemas.microsoft.com/office/drawing/2014/main" id="{0B51E582-DF04-45A7-83B2-878355B5C06A}"/>
                </a:ext>
              </a:extLst>
            </p:cNvPr>
            <p:cNvSpPr/>
            <p:nvPr/>
          </p:nvSpPr>
          <p:spPr>
            <a:xfrm rot="16200000">
              <a:off x="3795612" y="3824887"/>
              <a:ext cx="479946" cy="723901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6AE1859C-83F8-40A0-A419-258EBB262413}"/>
                </a:ext>
              </a:extLst>
            </p:cNvPr>
            <p:cNvSpPr/>
            <p:nvPr/>
          </p:nvSpPr>
          <p:spPr>
            <a:xfrm>
              <a:off x="4823098" y="5570975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Execution Context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5D121F1-D896-4A8A-8122-8D1F8604863E}"/>
                </a:ext>
              </a:extLst>
            </p:cNvPr>
            <p:cNvSpPr/>
            <p:nvPr/>
          </p:nvSpPr>
          <p:spPr>
            <a:xfrm>
              <a:off x="4818232" y="5972887"/>
              <a:ext cx="1874378" cy="318795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Staging Area</a:t>
              </a:r>
            </a:p>
          </p:txBody>
        </p:sp>
        <p:sp>
          <p:nvSpPr>
            <p:cNvPr id="2" name="Rectangle: Rounded Corners 20">
              <a:extLst>
                <a:ext uri="{FF2B5EF4-FFF2-40B4-BE49-F238E27FC236}">
                  <a16:creationId xmlns:a16="http://schemas.microsoft.com/office/drawing/2014/main" id="{231FC654-B7CB-6BDA-B26A-FC7A07F5E025}"/>
                </a:ext>
              </a:extLst>
            </p:cNvPr>
            <p:cNvSpPr/>
            <p:nvPr/>
          </p:nvSpPr>
          <p:spPr>
            <a:xfrm>
              <a:off x="6976716" y="2069261"/>
              <a:ext cx="1334564" cy="328409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28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C5B73A2-72F2-70BF-2052-AA1B9FC2C700}"/>
              </a:ext>
            </a:extLst>
          </p:cNvPr>
          <p:cNvGrpSpPr/>
          <p:nvPr/>
        </p:nvGrpSpPr>
        <p:grpSpPr>
          <a:xfrm>
            <a:off x="180975" y="452757"/>
            <a:ext cx="11758887" cy="6208350"/>
            <a:chOff x="180975" y="452757"/>
            <a:chExt cx="11758887" cy="620835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0209CCC-5107-459D-8055-8E7BF5B0AD77}"/>
                </a:ext>
              </a:extLst>
            </p:cNvPr>
            <p:cNvSpPr/>
            <p:nvPr/>
          </p:nvSpPr>
          <p:spPr>
            <a:xfrm>
              <a:off x="282238" y="5549008"/>
              <a:ext cx="2794336" cy="612559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OpenID</a:t>
              </a:r>
              <a:br>
                <a:rPr lang="en-US" sz="1400" dirty="0">
                  <a:solidFill>
                    <a:schemeClr val="tx1"/>
                  </a:solidFill>
                </a:rPr>
              </a:br>
              <a:r>
                <a:rPr lang="en-US" sz="1400" dirty="0" err="1">
                  <a:solidFill>
                    <a:schemeClr val="tx1"/>
                  </a:solidFill>
                </a:rPr>
                <a:t>AuthN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C2C3877-7A4C-412A-8277-C91B2E1725B4}"/>
                </a:ext>
              </a:extLst>
            </p:cNvPr>
            <p:cNvSpPr/>
            <p:nvPr/>
          </p:nvSpPr>
          <p:spPr>
            <a:xfrm>
              <a:off x="2182058" y="777161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Model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12A2504-31F7-4694-93B1-B626D3003492}"/>
                </a:ext>
              </a:extLst>
            </p:cNvPr>
            <p:cNvSpPr/>
            <p:nvPr/>
          </p:nvSpPr>
          <p:spPr>
            <a:xfrm>
              <a:off x="2182058" y="1703028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Experiment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F407DB6-7CED-4B6E-AC77-EB6183B43855}"/>
                </a:ext>
              </a:extLst>
            </p:cNvPr>
            <p:cNvSpPr/>
            <p:nvPr/>
          </p:nvSpPr>
          <p:spPr>
            <a:xfrm>
              <a:off x="393210" y="781600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Collaboration Tools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886216C-BAE0-4BD5-B8AB-F1ECF21DF255}"/>
                </a:ext>
              </a:extLst>
            </p:cNvPr>
            <p:cNvSpPr/>
            <p:nvPr/>
          </p:nvSpPr>
          <p:spPr>
            <a:xfrm>
              <a:off x="393210" y="1703028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Visualization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CF2368-BF55-45DF-9C6D-420EBD5EBAD6}"/>
                </a:ext>
              </a:extLst>
            </p:cNvPr>
            <p:cNvSpPr/>
            <p:nvPr/>
          </p:nvSpPr>
          <p:spPr>
            <a:xfrm>
              <a:off x="180975" y="452757"/>
              <a:ext cx="3395802" cy="2206840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F35D2E2-3D8E-46EA-864A-687A080EE0B8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>
              <a:off x="2803495" y="1326097"/>
              <a:ext cx="0" cy="37693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15E42D0-EBD0-4CC7-9316-8DC1FEC99FE1}"/>
                </a:ext>
              </a:extLst>
            </p:cNvPr>
            <p:cNvCxnSpPr>
              <a:cxnSpLocks/>
              <a:stCxn id="11" idx="1"/>
              <a:endCxn id="13" idx="3"/>
            </p:cNvCxnSpPr>
            <p:nvPr/>
          </p:nvCxnSpPr>
          <p:spPr>
            <a:xfrm flipH="1">
              <a:off x="1636083" y="1977496"/>
              <a:ext cx="545975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50E5C85-BF0F-488F-B672-F77135E4658A}"/>
                </a:ext>
              </a:extLst>
            </p:cNvPr>
            <p:cNvCxnSpPr>
              <a:cxnSpLocks/>
              <a:stCxn id="13" idx="0"/>
              <a:endCxn id="12" idx="2"/>
            </p:cNvCxnSpPr>
            <p:nvPr/>
          </p:nvCxnSpPr>
          <p:spPr>
            <a:xfrm flipV="1">
              <a:off x="1014647" y="1330536"/>
              <a:ext cx="0" cy="372492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058B653-A3C6-4679-8E14-70237B338526}"/>
                </a:ext>
              </a:extLst>
            </p:cNvPr>
            <p:cNvSpPr/>
            <p:nvPr/>
          </p:nvSpPr>
          <p:spPr>
            <a:xfrm>
              <a:off x="6365013" y="777162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Dataset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B133F88-CFD7-4A51-99B7-131CBB0AC447}"/>
                </a:ext>
              </a:extLst>
            </p:cNvPr>
            <p:cNvSpPr/>
            <p:nvPr/>
          </p:nvSpPr>
          <p:spPr>
            <a:xfrm>
              <a:off x="6365013" y="1703029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CDE (</a:t>
              </a:r>
              <a:r>
                <a:rPr lang="en-US" sz="1400" dirty="0" err="1">
                  <a:solidFill>
                    <a:schemeClr val="tx1"/>
                  </a:solidFill>
                </a:rPr>
                <a:t>Datamodel</a:t>
              </a:r>
              <a:r>
                <a:rPr lang="en-US" sz="1400" dirty="0">
                  <a:solidFill>
                    <a:schemeClr val="tx1"/>
                  </a:solidFill>
                </a:rPr>
                <a:t>) 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EA71321-7512-44D6-BCEE-20799E34A900}"/>
                </a:ext>
              </a:extLst>
            </p:cNvPr>
            <p:cNvSpPr/>
            <p:nvPr/>
          </p:nvSpPr>
          <p:spPr>
            <a:xfrm>
              <a:off x="4576165" y="781601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CDE  Exploration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D150767-46B8-4C71-8A57-9739682ECF2C}"/>
                </a:ext>
              </a:extLst>
            </p:cNvPr>
            <p:cNvSpPr/>
            <p:nvPr/>
          </p:nvSpPr>
          <p:spPr>
            <a:xfrm>
              <a:off x="4576165" y="1703029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Data Catalogue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CC63484-A980-4624-ADF2-C17FFFD645F0}"/>
                </a:ext>
              </a:extLst>
            </p:cNvPr>
            <p:cNvSpPr/>
            <p:nvPr/>
          </p:nvSpPr>
          <p:spPr>
            <a:xfrm>
              <a:off x="4366614" y="452758"/>
              <a:ext cx="3388215" cy="2206840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1926EC8-1C1E-49D5-ACDC-3DFA74E59C1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6986450" y="1326098"/>
              <a:ext cx="0" cy="376931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30C4352-E3FA-449A-AC29-0A68DCA0A6AD}"/>
                </a:ext>
              </a:extLst>
            </p:cNvPr>
            <p:cNvCxnSpPr>
              <a:cxnSpLocks/>
              <a:stCxn id="25" idx="1"/>
              <a:endCxn id="27" idx="3"/>
            </p:cNvCxnSpPr>
            <p:nvPr/>
          </p:nvCxnSpPr>
          <p:spPr>
            <a:xfrm flipH="1">
              <a:off x="5819038" y="1977497"/>
              <a:ext cx="545975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5C1BD3-64F3-40D6-AAB8-8B9B5F9F60E9}"/>
                </a:ext>
              </a:extLst>
            </p:cNvPr>
            <p:cNvCxnSpPr>
              <a:cxnSpLocks/>
              <a:stCxn id="27" idx="0"/>
              <a:endCxn id="26" idx="2"/>
            </p:cNvCxnSpPr>
            <p:nvPr/>
          </p:nvCxnSpPr>
          <p:spPr>
            <a:xfrm flipV="1">
              <a:off x="5197602" y="1330537"/>
              <a:ext cx="0" cy="372492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D5CB9F5-79F6-4293-9FDD-6FCA4B4917DB}"/>
                </a:ext>
              </a:extLst>
            </p:cNvPr>
            <p:cNvSpPr/>
            <p:nvPr/>
          </p:nvSpPr>
          <p:spPr>
            <a:xfrm>
              <a:off x="8473039" y="452757"/>
              <a:ext cx="3466823" cy="2652573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F823C92-6B15-4D04-9ACA-0D461C505E93}"/>
                </a:ext>
              </a:extLst>
            </p:cNvPr>
            <p:cNvSpPr/>
            <p:nvPr/>
          </p:nvSpPr>
          <p:spPr>
            <a:xfrm>
              <a:off x="8683326" y="582778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Data Quality Tool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74065F1-5A37-434C-A43D-EE068473F3B1}"/>
                </a:ext>
              </a:extLst>
            </p:cNvPr>
            <p:cNvSpPr/>
            <p:nvPr/>
          </p:nvSpPr>
          <p:spPr>
            <a:xfrm>
              <a:off x="8683326" y="1360221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Data Catalogue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E96D97A-3DA1-4B61-A198-52CE5FD39201}"/>
                </a:ext>
              </a:extLst>
            </p:cNvPr>
            <p:cNvSpPr/>
            <p:nvPr/>
          </p:nvSpPr>
          <p:spPr>
            <a:xfrm>
              <a:off x="10471438" y="582778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MIP MAP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3282C16A-8F7F-4D31-8A53-296FE20917EF}"/>
                </a:ext>
              </a:extLst>
            </p:cNvPr>
            <p:cNvSpPr/>
            <p:nvPr/>
          </p:nvSpPr>
          <p:spPr>
            <a:xfrm>
              <a:off x="10471438" y="1396287"/>
              <a:ext cx="1242873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MIP DMP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0384C4C-738F-4F3D-AAA6-752D543F5F2B}"/>
                </a:ext>
              </a:extLst>
            </p:cNvPr>
            <p:cNvSpPr/>
            <p:nvPr/>
          </p:nvSpPr>
          <p:spPr>
            <a:xfrm>
              <a:off x="8682590" y="2113627"/>
              <a:ext cx="1242873" cy="650514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MRI Neuro-</a:t>
              </a:r>
              <a:r>
                <a:rPr lang="en-US" sz="1400" dirty="0" err="1">
                  <a:solidFill>
                    <a:schemeClr val="tx1"/>
                  </a:solidFill>
                </a:rPr>
                <a:t>morphemetric</a:t>
              </a:r>
              <a:r>
                <a:rPr lang="en-US" sz="1400" dirty="0">
                  <a:solidFill>
                    <a:schemeClr val="tx1"/>
                  </a:solidFill>
                </a:rPr>
                <a:t> Pipeline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A50379-AA6E-47A5-9D3D-34A344E67D03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4977509"/>
              <a:ext cx="7469079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F1653D-ED86-4D6E-9B41-72FF15FADD26}"/>
                </a:ext>
              </a:extLst>
            </p:cNvPr>
            <p:cNvSpPr txBox="1"/>
            <p:nvPr/>
          </p:nvSpPr>
          <p:spPr>
            <a:xfrm>
              <a:off x="7719210" y="4792843"/>
              <a:ext cx="1507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User Interface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A5A9048-9F01-427C-9BB6-6DC9B5A7ED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931" y="5038369"/>
              <a:ext cx="0" cy="1438072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0BCDBD-FA18-41F1-B9F5-A618A590BB7D}"/>
                </a:ext>
              </a:extLst>
            </p:cNvPr>
            <p:cNvSpPr txBox="1"/>
            <p:nvPr/>
          </p:nvSpPr>
          <p:spPr>
            <a:xfrm>
              <a:off x="3612129" y="6291775"/>
              <a:ext cx="1400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MIP Backend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6A61F96-A9AE-4871-819C-F3792800DA65}"/>
                </a:ext>
              </a:extLst>
            </p:cNvPr>
            <p:cNvSpPr/>
            <p:nvPr/>
          </p:nvSpPr>
          <p:spPr>
            <a:xfrm>
              <a:off x="3773290" y="5553504"/>
              <a:ext cx="5542988" cy="612559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API Gateway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B6A155B-E3E2-4A49-956F-8EE2A1E08856}"/>
                </a:ext>
              </a:extLst>
            </p:cNvPr>
            <p:cNvSpPr txBox="1"/>
            <p:nvPr/>
          </p:nvSpPr>
          <p:spPr>
            <a:xfrm>
              <a:off x="198568" y="3869012"/>
              <a:ext cx="2120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Access Management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B84D77-3192-4FA8-9DA6-B3BD69DEA70D}"/>
                </a:ext>
              </a:extLst>
            </p:cNvPr>
            <p:cNvSpPr txBox="1"/>
            <p:nvPr/>
          </p:nvSpPr>
          <p:spPr>
            <a:xfrm>
              <a:off x="4414239" y="2290265"/>
              <a:ext cx="620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9D6E306-114F-4D78-BFE7-5139493F7762}"/>
                </a:ext>
              </a:extLst>
            </p:cNvPr>
            <p:cNvSpPr txBox="1"/>
            <p:nvPr/>
          </p:nvSpPr>
          <p:spPr>
            <a:xfrm>
              <a:off x="10135014" y="2723931"/>
              <a:ext cx="1772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Standalone Tools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D0AF6F7-F2E7-4F36-8BB7-CB14105A59D0}"/>
                </a:ext>
              </a:extLst>
            </p:cNvPr>
            <p:cNvSpPr/>
            <p:nvPr/>
          </p:nvSpPr>
          <p:spPr>
            <a:xfrm>
              <a:off x="180975" y="3024988"/>
              <a:ext cx="3395802" cy="1266817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53EBBB4-707C-431C-A319-03B34A63E18F}"/>
                </a:ext>
              </a:extLst>
            </p:cNvPr>
            <p:cNvSpPr/>
            <p:nvPr/>
          </p:nvSpPr>
          <p:spPr>
            <a:xfrm>
              <a:off x="332821" y="3264865"/>
              <a:ext cx="1405862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Authentication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C9FCFCD7-4C12-4A33-BBCE-25FD6CE86E56}"/>
                </a:ext>
              </a:extLst>
            </p:cNvPr>
            <p:cNvSpPr/>
            <p:nvPr/>
          </p:nvSpPr>
          <p:spPr>
            <a:xfrm>
              <a:off x="1954799" y="3275557"/>
              <a:ext cx="1405862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Authorization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7CD1C9-7321-4977-8BF2-94C9065B2115}"/>
                </a:ext>
              </a:extLst>
            </p:cNvPr>
            <p:cNvSpPr txBox="1"/>
            <p:nvPr/>
          </p:nvSpPr>
          <p:spPr>
            <a:xfrm>
              <a:off x="210201" y="2300528"/>
              <a:ext cx="102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Analytics</a:t>
              </a:r>
            </a:p>
          </p:txBody>
        </p:sp>
        <p:sp>
          <p:nvSpPr>
            <p:cNvPr id="64" name="Arrow: Up 63">
              <a:extLst>
                <a:ext uri="{FF2B5EF4-FFF2-40B4-BE49-F238E27FC236}">
                  <a16:creationId xmlns:a16="http://schemas.microsoft.com/office/drawing/2014/main" id="{134232D9-4477-47A5-94F3-28E1F5C60167}"/>
                </a:ext>
              </a:extLst>
            </p:cNvPr>
            <p:cNvSpPr/>
            <p:nvPr/>
          </p:nvSpPr>
          <p:spPr>
            <a:xfrm>
              <a:off x="1091288" y="4394878"/>
              <a:ext cx="805857" cy="896912"/>
            </a:xfrm>
            <a:prstGeom prst="upArrow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8EFACD-531D-4F91-A730-77780FAFF81C}"/>
                </a:ext>
              </a:extLst>
            </p:cNvPr>
            <p:cNvSpPr/>
            <p:nvPr/>
          </p:nvSpPr>
          <p:spPr>
            <a:xfrm>
              <a:off x="4359027" y="3024988"/>
              <a:ext cx="3395802" cy="1266817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7A1122B-A0ED-4CE1-89CF-4B6DF55EF44C}"/>
                </a:ext>
              </a:extLst>
            </p:cNvPr>
            <p:cNvSpPr txBox="1"/>
            <p:nvPr/>
          </p:nvSpPr>
          <p:spPr>
            <a:xfrm>
              <a:off x="4359027" y="3864986"/>
              <a:ext cx="1702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User Experience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560CCD0-E71F-4A82-9E50-E65734B52389}"/>
                </a:ext>
              </a:extLst>
            </p:cNvPr>
            <p:cNvSpPr/>
            <p:nvPr/>
          </p:nvSpPr>
          <p:spPr>
            <a:xfrm>
              <a:off x="4494670" y="3257913"/>
              <a:ext cx="1405862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Dashboard</a:t>
              </a:r>
            </a:p>
          </p:txBody>
        </p:sp>
        <p:sp>
          <p:nvSpPr>
            <p:cNvPr id="65" name="Arrow: Up-Down 64">
              <a:extLst>
                <a:ext uri="{FF2B5EF4-FFF2-40B4-BE49-F238E27FC236}">
                  <a16:creationId xmlns:a16="http://schemas.microsoft.com/office/drawing/2014/main" id="{4A59D4D0-D6B5-4808-8333-9B32B9384E06}"/>
                </a:ext>
              </a:extLst>
            </p:cNvPr>
            <p:cNvSpPr/>
            <p:nvPr/>
          </p:nvSpPr>
          <p:spPr>
            <a:xfrm>
              <a:off x="6626628" y="4394878"/>
              <a:ext cx="784828" cy="1032904"/>
            </a:xfrm>
            <a:prstGeom prst="upDownArrow">
              <a:avLst>
                <a:gd name="adj1" fmla="val 50000"/>
                <a:gd name="adj2" fmla="val 42082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96D491F-225B-4756-A905-A314C9FC8F1C}"/>
                </a:ext>
              </a:extLst>
            </p:cNvPr>
            <p:cNvSpPr/>
            <p:nvPr/>
          </p:nvSpPr>
          <p:spPr>
            <a:xfrm>
              <a:off x="6202024" y="3257913"/>
              <a:ext cx="1405862" cy="548936"/>
            </a:xfrm>
            <a:prstGeom prst="round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Data Exploration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C0BCDBD-FA18-41F1-B9F5-A618A590BB7D}"/>
                </a:ext>
              </a:extLst>
            </p:cNvPr>
            <p:cNvSpPr txBox="1"/>
            <p:nvPr/>
          </p:nvSpPr>
          <p:spPr>
            <a:xfrm>
              <a:off x="251792" y="6291775"/>
              <a:ext cx="1433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EBRAINS IAM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31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9">
            <a:extLst>
              <a:ext uri="{FF2B5EF4-FFF2-40B4-BE49-F238E27FC236}">
                <a16:creationId xmlns:a16="http://schemas.microsoft.com/office/drawing/2014/main" id="{8103CD50-1231-3AB6-2713-0CBE92DDBB5F}"/>
              </a:ext>
            </a:extLst>
          </p:cNvPr>
          <p:cNvCxnSpPr>
            <a:cxnSpLocks/>
          </p:cNvCxnSpPr>
          <p:nvPr/>
        </p:nvCxnSpPr>
        <p:spPr>
          <a:xfrm flipV="1">
            <a:off x="2299230" y="-42863"/>
            <a:ext cx="3008" cy="694372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39">
            <a:extLst>
              <a:ext uri="{FF2B5EF4-FFF2-40B4-BE49-F238E27FC236}">
                <a16:creationId xmlns:a16="http://schemas.microsoft.com/office/drawing/2014/main" id="{E0D68612-589F-7DD5-60AF-B19109B44194}"/>
              </a:ext>
            </a:extLst>
          </p:cNvPr>
          <p:cNvCxnSpPr>
            <a:cxnSpLocks/>
          </p:cNvCxnSpPr>
          <p:nvPr/>
        </p:nvCxnSpPr>
        <p:spPr>
          <a:xfrm flipV="1">
            <a:off x="5723304" y="-42863"/>
            <a:ext cx="0" cy="690086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7CCBAC13-06F5-6009-5C9C-C393F5BBE370}"/>
              </a:ext>
            </a:extLst>
          </p:cNvPr>
          <p:cNvSpPr/>
          <p:nvPr/>
        </p:nvSpPr>
        <p:spPr>
          <a:xfrm>
            <a:off x="327341" y="310387"/>
            <a:ext cx="1654497" cy="612559"/>
          </a:xfrm>
          <a:prstGeom prst="round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FDDC7D92-2D6B-E60B-B3D8-3E64029C4228}"/>
              </a:ext>
            </a:extLst>
          </p:cNvPr>
          <p:cNvSpPr/>
          <p:nvPr/>
        </p:nvSpPr>
        <p:spPr>
          <a:xfrm>
            <a:off x="2605164" y="310386"/>
            <a:ext cx="2808968" cy="612559"/>
          </a:xfrm>
          <a:prstGeom prst="round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Data Extraction and compilation</a:t>
            </a: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1A547F35-829E-1CE5-AA9D-B214DF33738B}"/>
              </a:ext>
            </a:extLst>
          </p:cNvPr>
          <p:cNvSpPr/>
          <p:nvPr/>
        </p:nvSpPr>
        <p:spPr>
          <a:xfrm>
            <a:off x="6033500" y="310386"/>
            <a:ext cx="2719716" cy="612559"/>
          </a:xfrm>
          <a:prstGeom prst="round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Common Data Elements (CDEs) definition</a:t>
            </a:r>
          </a:p>
        </p:txBody>
      </p:sp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986092B0-B88F-5EA4-5424-64DB05F5DB74}"/>
              </a:ext>
            </a:extLst>
          </p:cNvPr>
          <p:cNvSpPr/>
          <p:nvPr/>
        </p:nvSpPr>
        <p:spPr>
          <a:xfrm>
            <a:off x="9374335" y="310386"/>
            <a:ext cx="2541681" cy="612559"/>
          </a:xfrm>
          <a:prstGeom prst="round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Data harmonization to the CDE</a:t>
            </a:r>
          </a:p>
        </p:txBody>
      </p:sp>
      <p:cxnSp>
        <p:nvCxnSpPr>
          <p:cNvPr id="11" name="Straight Connector 39">
            <a:extLst>
              <a:ext uri="{FF2B5EF4-FFF2-40B4-BE49-F238E27FC236}">
                <a16:creationId xmlns:a16="http://schemas.microsoft.com/office/drawing/2014/main" id="{0F5BF550-A822-C209-9458-FFFD8F0E93E8}"/>
              </a:ext>
            </a:extLst>
          </p:cNvPr>
          <p:cNvCxnSpPr>
            <a:cxnSpLocks/>
          </p:cNvCxnSpPr>
          <p:nvPr/>
        </p:nvCxnSpPr>
        <p:spPr>
          <a:xfrm flipV="1">
            <a:off x="9043897" y="-42864"/>
            <a:ext cx="0" cy="690086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CF158E0-B2BC-A9AA-100A-64AE012C595C}"/>
              </a:ext>
            </a:extLst>
          </p:cNvPr>
          <p:cNvGrpSpPr/>
          <p:nvPr/>
        </p:nvGrpSpPr>
        <p:grpSpPr>
          <a:xfrm>
            <a:off x="620187" y="1657753"/>
            <a:ext cx="1148317" cy="1629970"/>
            <a:chOff x="782420" y="1008400"/>
            <a:chExt cx="1148317" cy="162997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56BF7798-6D9E-3718-9FE2-710381217557}"/>
                </a:ext>
              </a:extLst>
            </p:cNvPr>
            <p:cNvGrpSpPr/>
            <p:nvPr/>
          </p:nvGrpSpPr>
          <p:grpSpPr>
            <a:xfrm>
              <a:off x="782420" y="1008400"/>
              <a:ext cx="1148317" cy="1240025"/>
              <a:chOff x="1243055" y="2242269"/>
              <a:chExt cx="1148317" cy="1240025"/>
            </a:xfrm>
          </p:grpSpPr>
          <p:sp>
            <p:nvSpPr>
              <p:cNvPr id="17" name="Cylindre 16">
                <a:extLst>
                  <a:ext uri="{FF2B5EF4-FFF2-40B4-BE49-F238E27FC236}">
                    <a16:creationId xmlns:a16="http://schemas.microsoft.com/office/drawing/2014/main" id="{94AEB243-BB30-4362-FD38-8A883435E0DB}"/>
                  </a:ext>
                </a:extLst>
              </p:cNvPr>
              <p:cNvSpPr/>
              <p:nvPr/>
            </p:nvSpPr>
            <p:spPr>
              <a:xfrm>
                <a:off x="1243055" y="2242269"/>
                <a:ext cx="1148317" cy="1240025"/>
              </a:xfrm>
              <a:prstGeom prst="can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2" name="Image 11" descr="Une image contenant symbole, Police, Graphique, clipart&#10;&#10;Le contenu généré par l’IA peut être incorrect.">
                <a:extLst>
                  <a:ext uri="{FF2B5EF4-FFF2-40B4-BE49-F238E27FC236}">
                    <a16:creationId xmlns:a16="http://schemas.microsoft.com/office/drawing/2014/main" id="{88F2FD46-8ED9-D3EF-E92C-0655D2C4F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5000" b="97143" l="9220" r="89362">
                            <a14:foregroundMark x1="29078" y1="10000" x2="29078" y2="10000"/>
                            <a14:foregroundMark x1="26950" y1="5714" x2="26950" y2="5714"/>
                            <a14:foregroundMark x1="57447" y1="8571" x2="57447" y2="8571"/>
                            <a14:foregroundMark x1="78723" y1="45000" x2="78723" y2="45000"/>
                            <a14:foregroundMark x1="77305" y1="57857" x2="77305" y2="57857"/>
                            <a14:foregroundMark x1="78014" y1="82143" x2="78014" y2="82143"/>
                            <a14:foregroundMark x1="60993" y1="97143" x2="60993" y2="97143"/>
                            <a14:foregroundMark x1="36170" y1="57857" x2="36170" y2="57857"/>
                            <a14:backgroundMark x1="43262" y1="65000" x2="43262" y2="65000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375867" y="2574598"/>
                <a:ext cx="324000" cy="321703"/>
              </a:xfrm>
              <a:prstGeom prst="rect">
                <a:avLst/>
              </a:prstGeom>
            </p:spPr>
          </p:pic>
          <p:pic>
            <p:nvPicPr>
              <p:cNvPr id="13" name="Image 12" descr="Une image contenant symbole, Police, Graphique, logo&#10;&#10;Le contenu généré par l’IA peut être incorrect.">
                <a:extLst>
                  <a:ext uri="{FF2B5EF4-FFF2-40B4-BE49-F238E27FC236}">
                    <a16:creationId xmlns:a16="http://schemas.microsoft.com/office/drawing/2014/main" id="{5EAB905A-34BC-57F6-26FE-D322CB30EC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2249" b="33133" l="36735" r="59184">
                            <a14:foregroundMark x1="50292" y1="3598" x2="50292" y2="3598"/>
                            <a14:foregroundMark x1="49417" y1="2249" x2="49417" y2="2249"/>
                            <a14:foregroundMark x1="50000" y1="8546" x2="50000" y2="8546"/>
                            <a14:foregroundMark x1="42274" y1="16942" x2="42274" y2="16942"/>
                            <a14:foregroundMark x1="36735" y1="23088" x2="36735" y2="23088"/>
                            <a14:foregroundMark x1="49417" y1="26837" x2="49417" y2="26837"/>
                            <a14:foregroundMark x1="41254" y1="33133" x2="41254" y2="33133"/>
                          </a14:backgroundRemoval>
                        </a14:imgEffect>
                      </a14:imgLayer>
                    </a14:imgProps>
                  </a:ext>
                </a:extLst>
              </a:blip>
              <a:srcRect l="35208" r="38090" b="63828"/>
              <a:stretch>
                <a:fillRect/>
              </a:stretch>
            </p:blipFill>
            <p:spPr>
              <a:xfrm>
                <a:off x="1622110" y="2947692"/>
                <a:ext cx="288000" cy="379319"/>
              </a:xfrm>
              <a:prstGeom prst="rect">
                <a:avLst/>
              </a:prstGeom>
            </p:spPr>
          </p:pic>
          <p:pic>
            <p:nvPicPr>
              <p:cNvPr id="14" name="Image 13" descr="Une image contenant capture d’écran, symbole, cercle, Rectangle&#10;&#10;Le contenu généré par l’IA peut être incorrect.">
                <a:extLst>
                  <a:ext uri="{FF2B5EF4-FFF2-40B4-BE49-F238E27FC236}">
                    <a16:creationId xmlns:a16="http://schemas.microsoft.com/office/drawing/2014/main" id="{20511332-71A2-A1F8-5720-D824C5B51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7018" b="92544" l="9091" r="90341">
                            <a14:foregroundMark x1="44318" y1="18860" x2="44318" y2="18860"/>
                            <a14:foregroundMark x1="39773" y1="17105" x2="62500" y2="17982"/>
                            <a14:foregroundMark x1="52273" y1="7456" x2="52273" y2="7456"/>
                            <a14:foregroundMark x1="88636" y1="16228" x2="88636" y2="16228"/>
                            <a14:foregroundMark x1="82386" y1="16228" x2="85795" y2="16667"/>
                            <a14:foregroundMark x1="89773" y1="24123" x2="90341" y2="29825"/>
                            <a14:foregroundMark x1="89205" y1="46930" x2="90909" y2="53947"/>
                            <a14:foregroundMark x1="88636" y1="60526" x2="88636" y2="85088"/>
                            <a14:foregroundMark x1="56818" y1="92544" x2="84659" y2="91228"/>
                            <a14:foregroundMark x1="35795" y1="42982" x2="35795" y2="42982"/>
                            <a14:foregroundMark x1="50000" y1="41667" x2="50000" y2="41667"/>
                            <a14:foregroundMark x1="63068" y1="42982" x2="63068" y2="42982"/>
                            <a14:foregroundMark x1="65341" y1="52632" x2="65341" y2="52632"/>
                            <a14:foregroundMark x1="69886" y1="60088" x2="69886" y2="60088"/>
                            <a14:foregroundMark x1="49432" y1="66667" x2="49432" y2="66667"/>
                            <a14:foregroundMark x1="35795" y1="60088" x2="35795" y2="60088"/>
                            <a14:foregroundMark x1="36364" y1="68421" x2="36364" y2="68421"/>
                            <a14:foregroundMark x1="43182" y1="78070" x2="43182" y2="78070"/>
                            <a14:foregroundMark x1="70455" y1="68421" x2="70455" y2="6842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936637" y="2574598"/>
                <a:ext cx="288000" cy="373094"/>
              </a:xfrm>
              <a:prstGeom prst="rect">
                <a:avLst/>
              </a:prstGeom>
            </p:spPr>
          </p:pic>
        </p:grp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98BFD975-0D93-01F6-9559-A957185969AC}"/>
                </a:ext>
              </a:extLst>
            </p:cNvPr>
            <p:cNvSpPr txBox="1"/>
            <p:nvPr/>
          </p:nvSpPr>
          <p:spPr>
            <a:xfrm>
              <a:off x="785884" y="2299816"/>
              <a:ext cx="11413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/>
                <a:t>EHR files</a:t>
              </a: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0EB4952F-1794-A29B-D025-B800F1F6EE59}"/>
              </a:ext>
            </a:extLst>
          </p:cNvPr>
          <p:cNvGrpSpPr/>
          <p:nvPr/>
        </p:nvGrpSpPr>
        <p:grpSpPr>
          <a:xfrm>
            <a:off x="371609" y="4310274"/>
            <a:ext cx="1645473" cy="1614346"/>
            <a:chOff x="478541" y="3528401"/>
            <a:chExt cx="1645473" cy="1614346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B46E3EB4-44DE-9515-3B49-A3731BC83CC5}"/>
                </a:ext>
              </a:extLst>
            </p:cNvPr>
            <p:cNvGrpSpPr/>
            <p:nvPr/>
          </p:nvGrpSpPr>
          <p:grpSpPr>
            <a:xfrm>
              <a:off x="727119" y="3528401"/>
              <a:ext cx="1148317" cy="1240025"/>
              <a:chOff x="875569" y="2918816"/>
              <a:chExt cx="1148317" cy="1240025"/>
            </a:xfrm>
          </p:grpSpPr>
          <p:sp>
            <p:nvSpPr>
              <p:cNvPr id="19" name="Cylindre 18">
                <a:extLst>
                  <a:ext uri="{FF2B5EF4-FFF2-40B4-BE49-F238E27FC236}">
                    <a16:creationId xmlns:a16="http://schemas.microsoft.com/office/drawing/2014/main" id="{85050634-1B1E-918E-FFE5-16C9020B1EB8}"/>
                  </a:ext>
                </a:extLst>
              </p:cNvPr>
              <p:cNvSpPr/>
              <p:nvPr/>
            </p:nvSpPr>
            <p:spPr>
              <a:xfrm>
                <a:off x="875569" y="2918816"/>
                <a:ext cx="1148317" cy="1240025"/>
              </a:xfrm>
              <a:prstGeom prst="can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20" name="Image 19">
                <a:extLst>
                  <a:ext uri="{FF2B5EF4-FFF2-40B4-BE49-F238E27FC236}">
                    <a16:creationId xmlns:a16="http://schemas.microsoft.com/office/drawing/2014/main" id="{7AB2C894-2A20-6CE8-9FBE-5F73227B6B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9910" b="89865" l="6466" r="95875">
                            <a14:foregroundMark x1="8584" y1="20045" x2="19955" y2="50000"/>
                            <a14:foregroundMark x1="19955" y1="50000" x2="38350" y2="79955"/>
                            <a14:foregroundMark x1="6466" y1="79955" x2="6466" y2="79955"/>
                            <a14:foregroundMark x1="23969" y1="13964" x2="23969" y2="13964"/>
                            <a14:foregroundMark x1="55184" y1="12162" x2="55184" y2="12162"/>
                            <a14:foregroundMark x1="94537" y1="11712" x2="94537" y2="11712"/>
                            <a14:foregroundMark x1="90747" y1="39640" x2="90747" y2="39640"/>
                            <a14:foregroundMark x1="95875" y1="22297" x2="95875" y2="22297"/>
                            <a14:foregroundMark x1="91193" y1="11036" x2="91193" y2="11036"/>
                            <a14:foregroundMark x1="53512" y1="23874" x2="53512" y2="23874"/>
                            <a14:foregroundMark x1="60424" y1="28378" x2="81048" y2="51802"/>
                            <a14:foregroundMark x1="83278" y1="25676" x2="78149" y2="43694"/>
                            <a14:foregroundMark x1="78149" y1="43694" x2="71572" y2="55631"/>
                            <a14:foregroundMark x1="71572" y1="55631" x2="63099" y2="62838"/>
                            <a14:foregroundMark x1="63099" y1="62838" x2="62653" y2="62838"/>
                            <a14:foregroundMark x1="64771" y1="21171" x2="72910" y2="29505"/>
                            <a14:foregroundMark x1="72910" y1="29505" x2="81382" y2="28378"/>
                            <a14:foregroundMark x1="81382" y1="28378" x2="83055" y2="25676"/>
                            <a14:foregroundMark x1="63099" y1="12162" x2="63099" y2="12162"/>
                            <a14:foregroundMark x1="6689" y1="62387" x2="6689" y2="62387"/>
                            <a14:foregroundMark x1="27090" y1="27703" x2="27090" y2="27703"/>
                            <a14:foregroundMark x1="28205" y1="27703" x2="28205" y2="27703"/>
                            <a14:foregroundMark x1="35006" y1="34685" x2="35006" y2="34685"/>
                            <a14:foregroundMark x1="36120" y1="41667" x2="36120" y2="41667"/>
                            <a14:foregroundMark x1="73690" y1="26577" x2="73690" y2="26577"/>
                            <a14:foregroundMark x1="89632" y1="56081" x2="89632" y2="56081"/>
                          </a14:backgroundRemoval>
                        </a14:imgEffect>
                      </a14:imgLayer>
                    </a14:imgProps>
                  </a:ext>
                </a:extLst>
              </a:blip>
              <a:srcRect l="46687"/>
              <a:stretch>
                <a:fillRect/>
              </a:stretch>
            </p:blipFill>
            <p:spPr>
              <a:xfrm>
                <a:off x="1412257" y="3607290"/>
                <a:ext cx="474504" cy="440036"/>
              </a:xfrm>
              <a:prstGeom prst="rect">
                <a:avLst/>
              </a:prstGeom>
            </p:spPr>
          </p:pic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B4BE7EA1-144B-C262-F658-C7A6304C1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9910" b="89865" l="6466" r="95875">
                            <a14:foregroundMark x1="18865" y1="47129" x2="19955" y2="50000"/>
                            <a14:foregroundMark x1="17658" y1="43948" x2="18284" y2="45598"/>
                            <a14:foregroundMark x1="14831" y1="36501" x2="16804" y2="41700"/>
                            <a14:foregroundMark x1="14288" y1="35072" x2="14546" y2="35752"/>
                            <a14:foregroundMark x1="12794" y1="31136" x2="13438" y2="32833"/>
                            <a14:foregroundMark x1="8584" y1="20045" x2="10970" y2="26331"/>
                            <a14:foregroundMark x1="36677" y1="77231" x2="38350" y2="79955"/>
                            <a14:foregroundMark x1="33149" y1="71486" x2="34931" y2="74388"/>
                            <a14:foregroundMark x1="26920" y1="61343" x2="31593" y2="68952"/>
                            <a14:foregroundMark x1="22205" y1="53664" x2="22916" y2="54821"/>
                            <a14:foregroundMark x1="19955" y1="50000" x2="21068" y2="51812"/>
                            <a14:foregroundMark x1="6466" y1="79955" x2="6466" y2="79955"/>
                            <a14:foregroundMark x1="23969" y1="13964" x2="23969" y2="13964"/>
                            <a14:foregroundMark x1="55184" y1="12162" x2="55184" y2="12162"/>
                            <a14:foregroundMark x1="94537" y1="11712" x2="94537" y2="11712"/>
                            <a14:foregroundMark x1="90747" y1="39640" x2="90747" y2="39640"/>
                            <a14:foregroundMark x1="95875" y1="22297" x2="95875" y2="22297"/>
                            <a14:foregroundMark x1="91193" y1="11036" x2="91193" y2="11036"/>
                            <a14:foregroundMark x1="53512" y1="23874" x2="53512" y2="23874"/>
                            <a14:foregroundMark x1="60424" y1="28378" x2="81048" y2="51802"/>
                            <a14:foregroundMark x1="83278" y1="25676" x2="78149" y2="43694"/>
                            <a14:foregroundMark x1="78149" y1="43694" x2="71572" y2="55631"/>
                            <a14:foregroundMark x1="71572" y1="55631" x2="63099" y2="62838"/>
                            <a14:foregroundMark x1="63099" y1="62838" x2="62653" y2="62838"/>
                            <a14:foregroundMark x1="64771" y1="21171" x2="72910" y2="29505"/>
                            <a14:foregroundMark x1="72910" y1="29505" x2="81382" y2="28378"/>
                            <a14:foregroundMark x1="81382" y1="28378" x2="83055" y2="25676"/>
                            <a14:foregroundMark x1="63099" y1="12162" x2="63099" y2="12162"/>
                            <a14:foregroundMark x1="6689" y1="62387" x2="6689" y2="62387"/>
                            <a14:foregroundMark x1="27090" y1="27703" x2="27090" y2="27703"/>
                            <a14:foregroundMark x1="28205" y1="27703" x2="28205" y2="27703"/>
                            <a14:foregroundMark x1="35006" y1="34685" x2="35006" y2="34685"/>
                            <a14:foregroundMark x1="36120" y1="41667" x2="36120" y2="41667"/>
                            <a14:foregroundMark x1="73690" y1="26577" x2="73690" y2="26577"/>
                            <a14:foregroundMark x1="89632" y1="56081" x2="89632" y2="56081"/>
                            <a14:backgroundMark x1="22297" y1="57658" x2="22297" y2="57658"/>
                            <a14:backgroundMark x1="26756" y1="57432" x2="26756" y2="57432"/>
                            <a14:backgroundMark x1="24192" y1="56306" x2="27090" y2="61036"/>
                            <a14:backgroundMark x1="34894" y1="77928" x2="36901" y2="76351"/>
                            <a14:backgroundMark x1="17168" y1="45045" x2="16722" y2="48649"/>
                            <a14:backgroundMark x1="14939" y1="34009" x2="16165" y2="32207"/>
                            <a14:backgroundMark x1="10702" y1="27477" x2="9253" y2="30856"/>
                            <a14:backgroundMark x1="11817" y1="27477" x2="9699" y2="32883"/>
                            <a14:backgroundMark x1="13043" y1="32207" x2="12040" y2="34234"/>
                            <a14:backgroundMark x1="16276" y1="41892" x2="16499" y2="44369"/>
                            <a14:backgroundMark x1="21516" y1="50450" x2="23188" y2="50676"/>
                            <a14:backgroundMark x1="22408" y1="56306" x2="24192" y2="56757"/>
                            <a14:backgroundMark x1="25864" y1="64414" x2="28986" y2="65090"/>
                            <a14:backgroundMark x1="32664" y1="70495" x2="32664" y2="70495"/>
                            <a14:backgroundMark x1="31104" y1="70045" x2="31996" y2="70946"/>
                            <a14:backgroundMark x1="32107" y1="70721" x2="33445" y2="70495"/>
                            <a14:backgroundMark x1="34448" y1="76577" x2="35563" y2="74775"/>
                            <a14:backgroundMark x1="27202" y1="28153" x2="27202" y2="28153"/>
                            <a14:backgroundMark x1="22742" y1="16667" x2="22742" y2="16667"/>
                          </a14:backgroundRemoval>
                        </a14:imgEffect>
                      </a14:imgLayer>
                    </a14:imgProps>
                  </a:ext>
                </a:extLst>
              </a:blip>
              <a:srcRect r="55853"/>
              <a:stretch>
                <a:fillRect/>
              </a:stretch>
            </p:blipFill>
            <p:spPr>
              <a:xfrm>
                <a:off x="984183" y="3330302"/>
                <a:ext cx="372396" cy="417051"/>
              </a:xfrm>
              <a:prstGeom prst="rect">
                <a:avLst/>
              </a:prstGeom>
            </p:spPr>
          </p:pic>
        </p:grp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72934E8-8D5E-8428-AD14-71DBE05355EF}"/>
                </a:ext>
              </a:extLst>
            </p:cNvPr>
            <p:cNvSpPr txBox="1"/>
            <p:nvPr/>
          </p:nvSpPr>
          <p:spPr>
            <a:xfrm>
              <a:off x="478541" y="4804193"/>
              <a:ext cx="16454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 err="1"/>
                <a:t>Medical</a:t>
              </a:r>
              <a:r>
                <a:rPr lang="fr-FR" sz="1600" dirty="0"/>
                <a:t> images</a:t>
              </a:r>
            </a:p>
          </p:txBody>
        </p: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8F9FCC28-7E99-BBAB-6491-493EEC09F0D1}"/>
              </a:ext>
            </a:extLst>
          </p:cNvPr>
          <p:cNvGrpSpPr/>
          <p:nvPr/>
        </p:nvGrpSpPr>
        <p:grpSpPr>
          <a:xfrm>
            <a:off x="1768504" y="1719311"/>
            <a:ext cx="900000" cy="1152000"/>
            <a:chOff x="1768504" y="1734217"/>
            <a:chExt cx="1403920" cy="1178488"/>
          </a:xfrm>
        </p:grpSpPr>
        <p:cxnSp>
          <p:nvCxnSpPr>
            <p:cNvPr id="28" name="Connecteur droit avec flèche 27">
              <a:extLst>
                <a:ext uri="{FF2B5EF4-FFF2-40B4-BE49-F238E27FC236}">
                  <a16:creationId xmlns:a16="http://schemas.microsoft.com/office/drawing/2014/main" id="{F0D6BB31-6963-79F7-E848-C919DE0B3FCF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 flipV="1">
              <a:off x="1768504" y="1734217"/>
              <a:ext cx="1402458" cy="558455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8E287BCE-E64B-4081-0A43-68C8D975D106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1768504" y="2292694"/>
              <a:ext cx="1403920" cy="620011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959D482C-2D0E-3622-FC88-2564F3C12227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1768504" y="2292694"/>
              <a:ext cx="1403920" cy="236346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690FBA57-B2B3-D807-7F04-E3D4CC423B6D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 flipV="1">
              <a:off x="1768504" y="2013467"/>
              <a:ext cx="1403920" cy="279228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694AED76-34F1-2B48-9CF2-C708DBEA5B3B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 flipV="1">
              <a:off x="1768504" y="2254979"/>
              <a:ext cx="1403920" cy="37718"/>
            </a:xfrm>
            <a:prstGeom prst="straightConnector1">
              <a:avLst/>
            </a:prstGeom>
            <a:ln w="19050">
              <a:prstDash val="sysDot"/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E32FF417-9755-CEE2-14E4-818B33639D9D}"/>
              </a:ext>
            </a:extLst>
          </p:cNvPr>
          <p:cNvGrpSpPr/>
          <p:nvPr/>
        </p:nvGrpSpPr>
        <p:grpSpPr>
          <a:xfrm>
            <a:off x="1778255" y="4380682"/>
            <a:ext cx="900000" cy="1152000"/>
            <a:chOff x="1930736" y="1069958"/>
            <a:chExt cx="1321200" cy="1178467"/>
          </a:xfrm>
        </p:grpSpPr>
        <p:cxnSp>
          <p:nvCxnSpPr>
            <p:cNvPr id="87" name="Connecteur droit avec flèche 86">
              <a:extLst>
                <a:ext uri="{FF2B5EF4-FFF2-40B4-BE49-F238E27FC236}">
                  <a16:creationId xmlns:a16="http://schemas.microsoft.com/office/drawing/2014/main" id="{A56397B2-8AAB-DF02-33CB-C4AD7F719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0737" y="1069958"/>
              <a:ext cx="1319736" cy="558455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Connecteur droit avec flèche 87">
              <a:extLst>
                <a:ext uri="{FF2B5EF4-FFF2-40B4-BE49-F238E27FC236}">
                  <a16:creationId xmlns:a16="http://schemas.microsoft.com/office/drawing/2014/main" id="{181940B4-53BD-F3D3-6454-1BEE819F24AE}"/>
                </a:ext>
              </a:extLst>
            </p:cNvPr>
            <p:cNvCxnSpPr>
              <a:cxnSpLocks/>
            </p:cNvCxnSpPr>
            <p:nvPr/>
          </p:nvCxnSpPr>
          <p:spPr>
            <a:xfrm>
              <a:off x="1930736" y="1628413"/>
              <a:ext cx="1321200" cy="620012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Connecteur droit avec flèche 88">
              <a:extLst>
                <a:ext uri="{FF2B5EF4-FFF2-40B4-BE49-F238E27FC236}">
                  <a16:creationId xmlns:a16="http://schemas.microsoft.com/office/drawing/2014/main" id="{7A86695A-69D9-29AF-0237-8D748AC13F3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736" y="1628413"/>
              <a:ext cx="1321200" cy="236346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Connecteur droit avec flèche 89">
              <a:extLst>
                <a:ext uri="{FF2B5EF4-FFF2-40B4-BE49-F238E27FC236}">
                  <a16:creationId xmlns:a16="http://schemas.microsoft.com/office/drawing/2014/main" id="{66C50DAD-2D16-C083-3808-45B5C9EDC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0736" y="1349185"/>
              <a:ext cx="1321200" cy="279228"/>
            </a:xfrm>
            <a:prstGeom prst="straightConnector1">
              <a:avLst/>
            </a:prstGeom>
            <a:ln w="19050"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onnecteur droit avec flèche 90">
              <a:extLst>
                <a:ext uri="{FF2B5EF4-FFF2-40B4-BE49-F238E27FC236}">
                  <a16:creationId xmlns:a16="http://schemas.microsoft.com/office/drawing/2014/main" id="{009EC1D5-40DF-512E-D28D-AFA179487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0736" y="1590695"/>
              <a:ext cx="1321200" cy="37718"/>
            </a:xfrm>
            <a:prstGeom prst="straightConnector1">
              <a:avLst/>
            </a:prstGeom>
            <a:ln w="19050">
              <a:prstDash val="sysDot"/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3" name="Groupe 152">
            <a:extLst>
              <a:ext uri="{FF2B5EF4-FFF2-40B4-BE49-F238E27FC236}">
                <a16:creationId xmlns:a16="http://schemas.microsoft.com/office/drawing/2014/main" id="{B8F4C2A1-0156-9628-7570-ADD8CD7529F1}"/>
              </a:ext>
            </a:extLst>
          </p:cNvPr>
          <p:cNvGrpSpPr/>
          <p:nvPr/>
        </p:nvGrpSpPr>
        <p:grpSpPr>
          <a:xfrm>
            <a:off x="2733093" y="1697509"/>
            <a:ext cx="1319736" cy="1971223"/>
            <a:chOff x="2905369" y="1697509"/>
            <a:chExt cx="1319736" cy="1971223"/>
          </a:xfrm>
        </p:grpSpPr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39D0159A-73E7-D80D-8DFE-9B9B0F6A4B82}"/>
                </a:ext>
              </a:extLst>
            </p:cNvPr>
            <p:cNvGrpSpPr/>
            <p:nvPr/>
          </p:nvGrpSpPr>
          <p:grpSpPr>
            <a:xfrm>
              <a:off x="2905369" y="1697509"/>
              <a:ext cx="1319736" cy="1451218"/>
              <a:chOff x="3622491" y="874166"/>
              <a:chExt cx="1632190" cy="1730450"/>
            </a:xfrm>
          </p:grpSpPr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BD660EC8-2956-5ECA-5D90-BD2D99DFAD71}"/>
                  </a:ext>
                </a:extLst>
              </p:cNvPr>
              <p:cNvGrpSpPr/>
              <p:nvPr/>
            </p:nvGrpSpPr>
            <p:grpSpPr>
              <a:xfrm>
                <a:off x="3622491" y="874166"/>
                <a:ext cx="1632190" cy="1578050"/>
                <a:chOff x="3622491" y="874166"/>
                <a:chExt cx="1632190" cy="1578050"/>
              </a:xfrm>
            </p:grpSpPr>
            <p:grpSp>
              <p:nvGrpSpPr>
                <p:cNvPr id="35" name="Groupe 34">
                  <a:extLst>
                    <a:ext uri="{FF2B5EF4-FFF2-40B4-BE49-F238E27FC236}">
                      <a16:creationId xmlns:a16="http://schemas.microsoft.com/office/drawing/2014/main" id="{F9673ED6-DE7B-7D7A-DAA9-3D38EA605521}"/>
                    </a:ext>
                  </a:extLst>
                </p:cNvPr>
                <p:cNvGrpSpPr/>
                <p:nvPr/>
              </p:nvGrpSpPr>
              <p:grpSpPr>
                <a:xfrm>
                  <a:off x="3622491" y="874166"/>
                  <a:ext cx="1208589" cy="1425650"/>
                  <a:chOff x="3760964" y="416401"/>
                  <a:chExt cx="1208589" cy="1425650"/>
                </a:xfrm>
              </p:grpSpPr>
              <p:sp>
                <p:nvSpPr>
                  <p:cNvPr id="32" name="Carré corné 31">
                    <a:extLst>
                      <a:ext uri="{FF2B5EF4-FFF2-40B4-BE49-F238E27FC236}">
                        <a16:creationId xmlns:a16="http://schemas.microsoft.com/office/drawing/2014/main" id="{17B0D717-1E3D-A863-EE3B-D5ED6F04504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52434" y="524931"/>
                    <a:ext cx="1425650" cy="1208589"/>
                  </a:xfrm>
                  <a:prstGeom prst="foldedCorner">
                    <a:avLst>
                      <a:gd name="adj" fmla="val 30971"/>
                    </a:avLst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40A7CA69-DF52-E561-EDA6-0C6CA09E12D1}"/>
                      </a:ext>
                    </a:extLst>
                  </p:cNvPr>
                  <p:cNvSpPr txBox="1"/>
                  <p:nvPr/>
                </p:nvSpPr>
                <p:spPr>
                  <a:xfrm>
                    <a:off x="3794565" y="700597"/>
                    <a:ext cx="114138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050" dirty="0" err="1"/>
                      <a:t>Pseudonymous</a:t>
                    </a:r>
                    <a:r>
                      <a:rPr lang="fr-FR" sz="1050" dirty="0"/>
                      <a:t> data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9122FAF0-CEB2-4B19-DF61-4B03DF8A3D14}"/>
                      </a:ext>
                    </a:extLst>
                  </p:cNvPr>
                  <p:cNvSpPr/>
                  <p:nvPr/>
                </p:nvSpPr>
                <p:spPr>
                  <a:xfrm>
                    <a:off x="4038818" y="1527276"/>
                    <a:ext cx="652883" cy="314775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100" dirty="0"/>
                      <a:t>.CSV</a:t>
                    </a:r>
                  </a:p>
                </p:txBody>
              </p:sp>
            </p:grpSp>
            <p:grpSp>
              <p:nvGrpSpPr>
                <p:cNvPr id="36" name="Groupe 35">
                  <a:extLst>
                    <a:ext uri="{FF2B5EF4-FFF2-40B4-BE49-F238E27FC236}">
                      <a16:creationId xmlns:a16="http://schemas.microsoft.com/office/drawing/2014/main" id="{60E1CB79-8CF6-F0F1-A147-8CA22679DCDA}"/>
                    </a:ext>
                  </a:extLst>
                </p:cNvPr>
                <p:cNvGrpSpPr/>
                <p:nvPr/>
              </p:nvGrpSpPr>
              <p:grpSpPr>
                <a:xfrm>
                  <a:off x="3774891" y="1026566"/>
                  <a:ext cx="1208589" cy="1425650"/>
                  <a:chOff x="3760964" y="416401"/>
                  <a:chExt cx="1208589" cy="1425650"/>
                </a:xfrm>
              </p:grpSpPr>
              <p:sp>
                <p:nvSpPr>
                  <p:cNvPr id="37" name="Carré corné 36">
                    <a:extLst>
                      <a:ext uri="{FF2B5EF4-FFF2-40B4-BE49-F238E27FC236}">
                        <a16:creationId xmlns:a16="http://schemas.microsoft.com/office/drawing/2014/main" id="{9297FCD1-95B1-75D9-CA93-57F4F5F2B1C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52434" y="524931"/>
                    <a:ext cx="1425650" cy="1208589"/>
                  </a:xfrm>
                  <a:prstGeom prst="foldedCorner">
                    <a:avLst>
                      <a:gd name="adj" fmla="val 30971"/>
                    </a:avLst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8" name="ZoneTexte 37">
                    <a:extLst>
                      <a:ext uri="{FF2B5EF4-FFF2-40B4-BE49-F238E27FC236}">
                        <a16:creationId xmlns:a16="http://schemas.microsoft.com/office/drawing/2014/main" id="{C0BD9BF1-CA03-E59E-E99F-A19433451049}"/>
                      </a:ext>
                    </a:extLst>
                  </p:cNvPr>
                  <p:cNvSpPr txBox="1"/>
                  <p:nvPr/>
                </p:nvSpPr>
                <p:spPr>
                  <a:xfrm>
                    <a:off x="3794565" y="700597"/>
                    <a:ext cx="114138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050" dirty="0" err="1"/>
                      <a:t>Pseudonymous</a:t>
                    </a:r>
                    <a:r>
                      <a:rPr lang="fr-FR" sz="1050" dirty="0"/>
                      <a:t> data</a:t>
                    </a: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AE8ABABC-0F01-2776-8DC6-BB7DA7456703}"/>
                      </a:ext>
                    </a:extLst>
                  </p:cNvPr>
                  <p:cNvSpPr/>
                  <p:nvPr/>
                </p:nvSpPr>
                <p:spPr>
                  <a:xfrm>
                    <a:off x="4038818" y="1527276"/>
                    <a:ext cx="652883" cy="314775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100" dirty="0"/>
                      <a:t>.CSV</a:t>
                    </a:r>
                  </a:p>
                </p:txBody>
              </p:sp>
            </p:grpSp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4B738335-87A3-BA0E-92E7-7BA4395F7E4D}"/>
                    </a:ext>
                  </a:extLst>
                </p:cNvPr>
                <p:cNvSpPr txBox="1"/>
                <p:nvPr/>
              </p:nvSpPr>
              <p:spPr>
                <a:xfrm>
                  <a:off x="4113292" y="1615562"/>
                  <a:ext cx="1141389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050" dirty="0" err="1"/>
                    <a:t>Pseudonymous</a:t>
                  </a:r>
                  <a:r>
                    <a:rPr lang="fr-FR" sz="1050" dirty="0"/>
                    <a:t> data</a:t>
                  </a:r>
                </a:p>
              </p:txBody>
            </p:sp>
          </p:grpSp>
          <p:grpSp>
            <p:nvGrpSpPr>
              <p:cNvPr id="40" name="Groupe 39">
                <a:extLst>
                  <a:ext uri="{FF2B5EF4-FFF2-40B4-BE49-F238E27FC236}">
                    <a16:creationId xmlns:a16="http://schemas.microsoft.com/office/drawing/2014/main" id="{172A7527-7374-BFC0-D4F7-B3A32858ED1B}"/>
                  </a:ext>
                </a:extLst>
              </p:cNvPr>
              <p:cNvGrpSpPr/>
              <p:nvPr/>
            </p:nvGrpSpPr>
            <p:grpSpPr>
              <a:xfrm>
                <a:off x="3927291" y="1178966"/>
                <a:ext cx="1208589" cy="1425650"/>
                <a:chOff x="3760964" y="416401"/>
                <a:chExt cx="1208589" cy="1425650"/>
              </a:xfrm>
            </p:grpSpPr>
            <p:sp>
              <p:nvSpPr>
                <p:cNvPr id="41" name="Carré corné 40">
                  <a:extLst>
                    <a:ext uri="{FF2B5EF4-FFF2-40B4-BE49-F238E27FC236}">
                      <a16:creationId xmlns:a16="http://schemas.microsoft.com/office/drawing/2014/main" id="{952E6DC1-C3DD-ED13-1C56-647F22E93582}"/>
                    </a:ext>
                  </a:extLst>
                </p:cNvPr>
                <p:cNvSpPr/>
                <p:nvPr/>
              </p:nvSpPr>
              <p:spPr>
                <a:xfrm rot="16200000">
                  <a:off x="3652434" y="524931"/>
                  <a:ext cx="1425650" cy="1208589"/>
                </a:xfrm>
                <a:prstGeom prst="foldedCorner">
                  <a:avLst>
                    <a:gd name="adj" fmla="val 30971"/>
                  </a:avLst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97BC4F3E-25D1-6C7B-B139-34FC6A32AFEB}"/>
                    </a:ext>
                  </a:extLst>
                </p:cNvPr>
                <p:cNvSpPr txBox="1"/>
                <p:nvPr/>
              </p:nvSpPr>
              <p:spPr>
                <a:xfrm>
                  <a:off x="3794565" y="779606"/>
                  <a:ext cx="1141389" cy="49544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fr-FR" sz="1050" dirty="0" err="1"/>
                    <a:t>Pseudonymous</a:t>
                  </a:r>
                  <a:r>
                    <a:rPr lang="fr-FR" sz="1050" dirty="0"/>
                    <a:t> data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7F639AD-71D7-A0C5-D257-DB09A974BF13}"/>
                    </a:ext>
                  </a:extLst>
                </p:cNvPr>
                <p:cNvSpPr/>
                <p:nvPr/>
              </p:nvSpPr>
              <p:spPr>
                <a:xfrm>
                  <a:off x="4038818" y="1527276"/>
                  <a:ext cx="652883" cy="31477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100" dirty="0"/>
                    <a:t>.CSV</a:t>
                  </a:r>
                </a:p>
              </p:txBody>
            </p:sp>
          </p:grpSp>
        </p:grp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4550F787-18CF-DD3F-B807-AF7C19A41832}"/>
                </a:ext>
              </a:extLst>
            </p:cNvPr>
            <p:cNvSpPr txBox="1"/>
            <p:nvPr/>
          </p:nvSpPr>
          <p:spPr>
            <a:xfrm>
              <a:off x="2989405" y="3207067"/>
              <a:ext cx="115166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fr-FR" sz="1200" b="1" dirty="0"/>
                <a:t>1.1 </a:t>
              </a:r>
              <a:r>
                <a:rPr lang="fr-FR" sz="1200" b="1" dirty="0" err="1"/>
                <a:t>Extract</a:t>
              </a:r>
              <a:r>
                <a:rPr lang="fr-FR" sz="1200" b="1" dirty="0"/>
                <a:t> as csv files</a:t>
              </a:r>
            </a:p>
          </p:txBody>
        </p:sp>
      </p:grp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3BE0F19D-56E5-8568-AD1C-C583092904BA}"/>
              </a:ext>
            </a:extLst>
          </p:cNvPr>
          <p:cNvGrpSpPr/>
          <p:nvPr/>
        </p:nvGrpSpPr>
        <p:grpSpPr>
          <a:xfrm>
            <a:off x="2730933" y="4376850"/>
            <a:ext cx="1319736" cy="2001383"/>
            <a:chOff x="2903209" y="4376850"/>
            <a:chExt cx="1319736" cy="2001383"/>
          </a:xfrm>
        </p:grpSpPr>
        <p:grpSp>
          <p:nvGrpSpPr>
            <p:cNvPr id="70" name="Groupe 69">
              <a:extLst>
                <a:ext uri="{FF2B5EF4-FFF2-40B4-BE49-F238E27FC236}">
                  <a16:creationId xmlns:a16="http://schemas.microsoft.com/office/drawing/2014/main" id="{DF9A25AB-1A26-8E91-275A-4B94F303034D}"/>
                </a:ext>
              </a:extLst>
            </p:cNvPr>
            <p:cNvGrpSpPr/>
            <p:nvPr/>
          </p:nvGrpSpPr>
          <p:grpSpPr>
            <a:xfrm>
              <a:off x="2903209" y="4376850"/>
              <a:ext cx="1319736" cy="1451218"/>
              <a:chOff x="3622491" y="874166"/>
              <a:chExt cx="1632190" cy="1730450"/>
            </a:xfrm>
          </p:grpSpPr>
          <p:grpSp>
            <p:nvGrpSpPr>
              <p:cNvPr id="71" name="Groupe 70">
                <a:extLst>
                  <a:ext uri="{FF2B5EF4-FFF2-40B4-BE49-F238E27FC236}">
                    <a16:creationId xmlns:a16="http://schemas.microsoft.com/office/drawing/2014/main" id="{A3916A1D-D89D-BABF-34CE-2071BA53A1A1}"/>
                  </a:ext>
                </a:extLst>
              </p:cNvPr>
              <p:cNvGrpSpPr/>
              <p:nvPr/>
            </p:nvGrpSpPr>
            <p:grpSpPr>
              <a:xfrm>
                <a:off x="3622491" y="874166"/>
                <a:ext cx="1632190" cy="1578050"/>
                <a:chOff x="3622491" y="874166"/>
                <a:chExt cx="1632190" cy="1578050"/>
              </a:xfrm>
            </p:grpSpPr>
            <p:grpSp>
              <p:nvGrpSpPr>
                <p:cNvPr id="76" name="Groupe 75">
                  <a:extLst>
                    <a:ext uri="{FF2B5EF4-FFF2-40B4-BE49-F238E27FC236}">
                      <a16:creationId xmlns:a16="http://schemas.microsoft.com/office/drawing/2014/main" id="{00974FBF-0BA9-1BF4-C6EA-8AC890580E7C}"/>
                    </a:ext>
                  </a:extLst>
                </p:cNvPr>
                <p:cNvGrpSpPr/>
                <p:nvPr/>
              </p:nvGrpSpPr>
              <p:grpSpPr>
                <a:xfrm>
                  <a:off x="3622491" y="874166"/>
                  <a:ext cx="1208589" cy="1425650"/>
                  <a:chOff x="3760964" y="416401"/>
                  <a:chExt cx="1208589" cy="1425650"/>
                </a:xfrm>
              </p:grpSpPr>
              <p:sp>
                <p:nvSpPr>
                  <p:cNvPr id="82" name="Carré corné 81">
                    <a:extLst>
                      <a:ext uri="{FF2B5EF4-FFF2-40B4-BE49-F238E27FC236}">
                        <a16:creationId xmlns:a16="http://schemas.microsoft.com/office/drawing/2014/main" id="{7B7DAE44-F6FD-1AE8-6141-3A3F68FAD5F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52434" y="524931"/>
                    <a:ext cx="1425650" cy="1208589"/>
                  </a:xfrm>
                  <a:prstGeom prst="foldedCorner">
                    <a:avLst>
                      <a:gd name="adj" fmla="val 30971"/>
                    </a:avLst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ZoneTexte 82">
                    <a:extLst>
                      <a:ext uri="{FF2B5EF4-FFF2-40B4-BE49-F238E27FC236}">
                        <a16:creationId xmlns:a16="http://schemas.microsoft.com/office/drawing/2014/main" id="{ED23A30D-204D-BFAC-325C-46CD58EDA907}"/>
                      </a:ext>
                    </a:extLst>
                  </p:cNvPr>
                  <p:cNvSpPr txBox="1"/>
                  <p:nvPr/>
                </p:nvSpPr>
                <p:spPr>
                  <a:xfrm>
                    <a:off x="3794565" y="700597"/>
                    <a:ext cx="114138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050" dirty="0" err="1"/>
                      <a:t>Pseudonymous</a:t>
                    </a:r>
                    <a:r>
                      <a:rPr lang="fr-FR" sz="1050" dirty="0"/>
                      <a:t> data</a:t>
                    </a:r>
                  </a:p>
                </p:txBody>
              </p:sp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0C4A6E9E-1F6F-8F1F-61BA-B4D436F82947}"/>
                      </a:ext>
                    </a:extLst>
                  </p:cNvPr>
                  <p:cNvSpPr/>
                  <p:nvPr/>
                </p:nvSpPr>
                <p:spPr>
                  <a:xfrm>
                    <a:off x="4038818" y="1527276"/>
                    <a:ext cx="652883" cy="314775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100" dirty="0"/>
                      <a:t>.CSV</a:t>
                    </a:r>
                  </a:p>
                </p:txBody>
              </p:sp>
            </p:grpSp>
            <p:grpSp>
              <p:nvGrpSpPr>
                <p:cNvPr id="77" name="Groupe 76">
                  <a:extLst>
                    <a:ext uri="{FF2B5EF4-FFF2-40B4-BE49-F238E27FC236}">
                      <a16:creationId xmlns:a16="http://schemas.microsoft.com/office/drawing/2014/main" id="{C869160E-604F-77D1-540F-F2F1780E7C39}"/>
                    </a:ext>
                  </a:extLst>
                </p:cNvPr>
                <p:cNvGrpSpPr/>
                <p:nvPr/>
              </p:nvGrpSpPr>
              <p:grpSpPr>
                <a:xfrm>
                  <a:off x="3774891" y="1026566"/>
                  <a:ext cx="1208589" cy="1425650"/>
                  <a:chOff x="3760964" y="416401"/>
                  <a:chExt cx="1208589" cy="1425650"/>
                </a:xfrm>
              </p:grpSpPr>
              <p:sp>
                <p:nvSpPr>
                  <p:cNvPr id="79" name="Carré corné 78">
                    <a:extLst>
                      <a:ext uri="{FF2B5EF4-FFF2-40B4-BE49-F238E27FC236}">
                        <a16:creationId xmlns:a16="http://schemas.microsoft.com/office/drawing/2014/main" id="{3617CC77-6BB3-9640-A749-6607C4F60D7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52434" y="524931"/>
                    <a:ext cx="1425650" cy="1208589"/>
                  </a:xfrm>
                  <a:prstGeom prst="foldedCorner">
                    <a:avLst>
                      <a:gd name="adj" fmla="val 30971"/>
                    </a:avLst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ZoneTexte 79">
                    <a:extLst>
                      <a:ext uri="{FF2B5EF4-FFF2-40B4-BE49-F238E27FC236}">
                        <a16:creationId xmlns:a16="http://schemas.microsoft.com/office/drawing/2014/main" id="{F10E60E7-E113-A6A1-A6D4-DD8B8812C9DA}"/>
                      </a:ext>
                    </a:extLst>
                  </p:cNvPr>
                  <p:cNvSpPr txBox="1"/>
                  <p:nvPr/>
                </p:nvSpPr>
                <p:spPr>
                  <a:xfrm>
                    <a:off x="3794565" y="700597"/>
                    <a:ext cx="114138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050" dirty="0" err="1"/>
                      <a:t>Pseudonymous</a:t>
                    </a:r>
                    <a:r>
                      <a:rPr lang="fr-FR" sz="1050" dirty="0"/>
                      <a:t> data</a:t>
                    </a:r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30C353D-45FA-707C-9233-62E3D2244E94}"/>
                      </a:ext>
                    </a:extLst>
                  </p:cNvPr>
                  <p:cNvSpPr/>
                  <p:nvPr/>
                </p:nvSpPr>
                <p:spPr>
                  <a:xfrm>
                    <a:off x="4038818" y="1527276"/>
                    <a:ext cx="652883" cy="314775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100" dirty="0"/>
                      <a:t>.CSV</a:t>
                    </a:r>
                  </a:p>
                </p:txBody>
              </p:sp>
            </p:grpSp>
            <p:sp>
              <p:nvSpPr>
                <p:cNvPr id="78" name="ZoneTexte 77">
                  <a:extLst>
                    <a:ext uri="{FF2B5EF4-FFF2-40B4-BE49-F238E27FC236}">
                      <a16:creationId xmlns:a16="http://schemas.microsoft.com/office/drawing/2014/main" id="{BB21021D-3CAD-9C71-54A7-675D1FB77A8A}"/>
                    </a:ext>
                  </a:extLst>
                </p:cNvPr>
                <p:cNvSpPr txBox="1"/>
                <p:nvPr/>
              </p:nvSpPr>
              <p:spPr>
                <a:xfrm>
                  <a:off x="4113292" y="1615562"/>
                  <a:ext cx="1141389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050" dirty="0" err="1"/>
                    <a:t>Pseudonymous</a:t>
                  </a:r>
                  <a:r>
                    <a:rPr lang="fr-FR" sz="1050" dirty="0"/>
                    <a:t> data</a:t>
                  </a:r>
                </a:p>
              </p:txBody>
            </p:sp>
          </p:grpSp>
          <p:grpSp>
            <p:nvGrpSpPr>
              <p:cNvPr id="72" name="Groupe 71">
                <a:extLst>
                  <a:ext uri="{FF2B5EF4-FFF2-40B4-BE49-F238E27FC236}">
                    <a16:creationId xmlns:a16="http://schemas.microsoft.com/office/drawing/2014/main" id="{C3CEE0F0-94C0-748F-600B-C453A84BEEC4}"/>
                  </a:ext>
                </a:extLst>
              </p:cNvPr>
              <p:cNvGrpSpPr/>
              <p:nvPr/>
            </p:nvGrpSpPr>
            <p:grpSpPr>
              <a:xfrm>
                <a:off x="3927291" y="1178966"/>
                <a:ext cx="1208589" cy="1425650"/>
                <a:chOff x="3760964" y="416401"/>
                <a:chExt cx="1208589" cy="1425650"/>
              </a:xfrm>
            </p:grpSpPr>
            <p:sp>
              <p:nvSpPr>
                <p:cNvPr id="73" name="Carré corné 72">
                  <a:extLst>
                    <a:ext uri="{FF2B5EF4-FFF2-40B4-BE49-F238E27FC236}">
                      <a16:creationId xmlns:a16="http://schemas.microsoft.com/office/drawing/2014/main" id="{795BC875-B638-0B56-702C-2011A667109E}"/>
                    </a:ext>
                  </a:extLst>
                </p:cNvPr>
                <p:cNvSpPr/>
                <p:nvPr/>
              </p:nvSpPr>
              <p:spPr>
                <a:xfrm rot="16200000">
                  <a:off x="3652434" y="524931"/>
                  <a:ext cx="1425650" cy="1208589"/>
                </a:xfrm>
                <a:prstGeom prst="foldedCorner">
                  <a:avLst>
                    <a:gd name="adj" fmla="val 30971"/>
                  </a:avLst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ZoneTexte 73">
                  <a:extLst>
                    <a:ext uri="{FF2B5EF4-FFF2-40B4-BE49-F238E27FC236}">
                      <a16:creationId xmlns:a16="http://schemas.microsoft.com/office/drawing/2014/main" id="{BE1418AF-1C0B-A402-81B9-D10F2A0C34EE}"/>
                    </a:ext>
                  </a:extLst>
                </p:cNvPr>
                <p:cNvSpPr txBox="1"/>
                <p:nvPr/>
              </p:nvSpPr>
              <p:spPr>
                <a:xfrm>
                  <a:off x="3794565" y="779606"/>
                  <a:ext cx="1141389" cy="49544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fr-FR" sz="1050" dirty="0" err="1"/>
                    <a:t>Pseudonymous</a:t>
                  </a:r>
                  <a:r>
                    <a:rPr lang="fr-FR" sz="1050" dirty="0"/>
                    <a:t> data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4839F2B9-28EB-98A3-6CF1-0396610AE862}"/>
                    </a:ext>
                  </a:extLst>
                </p:cNvPr>
                <p:cNvSpPr/>
                <p:nvPr/>
              </p:nvSpPr>
              <p:spPr>
                <a:xfrm>
                  <a:off x="4038818" y="1527276"/>
                  <a:ext cx="652883" cy="31477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100" dirty="0"/>
                    <a:t>.CSV</a:t>
                  </a:r>
                </a:p>
              </p:txBody>
            </p:sp>
          </p:grpSp>
        </p:grp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0563645B-8A70-E9C5-6148-36C80C3F1DFD}"/>
                </a:ext>
              </a:extLst>
            </p:cNvPr>
            <p:cNvSpPr txBox="1"/>
            <p:nvPr/>
          </p:nvSpPr>
          <p:spPr>
            <a:xfrm>
              <a:off x="2915901" y="5916568"/>
              <a:ext cx="129435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fr-FR" sz="1200" b="1" dirty="0"/>
                <a:t>1.2. </a:t>
              </a:r>
              <a:r>
                <a:rPr lang="fr-FR" sz="1200" b="1" dirty="0" err="1"/>
                <a:t>Extract</a:t>
              </a:r>
              <a:r>
                <a:rPr lang="fr-FR" sz="1200" b="1" dirty="0"/>
                <a:t> relevant </a:t>
              </a:r>
              <a:r>
                <a:rPr lang="fr-FR" sz="1200" b="1" dirty="0" err="1"/>
                <a:t>features</a:t>
              </a:r>
              <a:r>
                <a:rPr lang="fr-FR" sz="1200" b="1" dirty="0"/>
                <a:t> as csv files</a:t>
              </a:r>
            </a:p>
          </p:txBody>
        </p:sp>
      </p:grp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0F0791B0-0068-C55A-4874-44FA205064B1}"/>
              </a:ext>
            </a:extLst>
          </p:cNvPr>
          <p:cNvGrpSpPr/>
          <p:nvPr/>
        </p:nvGrpSpPr>
        <p:grpSpPr>
          <a:xfrm>
            <a:off x="4234842" y="3190242"/>
            <a:ext cx="1294353" cy="1725542"/>
            <a:chOff x="4513134" y="2540889"/>
            <a:chExt cx="1294353" cy="1725542"/>
          </a:xfrm>
        </p:grpSpPr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FE20EC95-8CF1-39FA-54D1-E84818F410AC}"/>
                </a:ext>
              </a:extLst>
            </p:cNvPr>
            <p:cNvGrpSpPr/>
            <p:nvPr/>
          </p:nvGrpSpPr>
          <p:grpSpPr>
            <a:xfrm>
              <a:off x="4671697" y="2540889"/>
              <a:ext cx="977226" cy="1195602"/>
              <a:chOff x="3807800" y="1416416"/>
              <a:chExt cx="977226" cy="1195602"/>
            </a:xfrm>
          </p:grpSpPr>
          <p:sp>
            <p:nvSpPr>
              <p:cNvPr id="66" name="Carré corné 65">
                <a:extLst>
                  <a:ext uri="{FF2B5EF4-FFF2-40B4-BE49-F238E27FC236}">
                    <a16:creationId xmlns:a16="http://schemas.microsoft.com/office/drawing/2014/main" id="{209F97A5-B927-F3C8-E1A3-E6D2F1F07BAE}"/>
                  </a:ext>
                </a:extLst>
              </p:cNvPr>
              <p:cNvSpPr/>
              <p:nvPr/>
            </p:nvSpPr>
            <p:spPr>
              <a:xfrm rot="16200000">
                <a:off x="3698612" y="1525604"/>
                <a:ext cx="1195602" cy="977226"/>
              </a:xfrm>
              <a:prstGeom prst="foldedCorner">
                <a:avLst>
                  <a:gd name="adj" fmla="val 30971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A471A3AB-117E-40D8-1D65-3B9621E2F4A0}"/>
                  </a:ext>
                </a:extLst>
              </p:cNvPr>
              <p:cNvSpPr txBox="1"/>
              <p:nvPr/>
            </p:nvSpPr>
            <p:spPr>
              <a:xfrm>
                <a:off x="3834969" y="1721013"/>
                <a:ext cx="922890" cy="415498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fr-FR" sz="1050" dirty="0" err="1"/>
                  <a:t>Pseudonymous</a:t>
                </a:r>
                <a:r>
                  <a:rPr lang="fr-FR" sz="1050" dirty="0"/>
                  <a:t> data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1060CCE-344C-82C1-5D3A-590D8BFBB42E}"/>
                  </a:ext>
                </a:extLst>
              </p:cNvPr>
              <p:cNvSpPr/>
              <p:nvPr/>
            </p:nvSpPr>
            <p:spPr>
              <a:xfrm>
                <a:off x="4032464" y="2348036"/>
                <a:ext cx="527900" cy="26398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1100" dirty="0"/>
                  <a:t>.CSV</a:t>
                </a:r>
              </a:p>
            </p:txBody>
          </p:sp>
        </p:grpSp>
        <p:sp>
          <p:nvSpPr>
            <p:cNvPr id="101" name="ZoneTexte 100">
              <a:extLst>
                <a:ext uri="{FF2B5EF4-FFF2-40B4-BE49-F238E27FC236}">
                  <a16:creationId xmlns:a16="http://schemas.microsoft.com/office/drawing/2014/main" id="{7BDCD911-DD71-E62C-633D-0565D282B3AE}"/>
                </a:ext>
              </a:extLst>
            </p:cNvPr>
            <p:cNvSpPr txBox="1"/>
            <p:nvPr/>
          </p:nvSpPr>
          <p:spPr>
            <a:xfrm>
              <a:off x="4513134" y="3804766"/>
              <a:ext cx="129435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fr-FR" sz="1200" b="1" dirty="0"/>
                <a:t>1.3. Merge all as once csv file</a:t>
              </a:r>
            </a:p>
          </p:txBody>
        </p:sp>
      </p:grp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5886C40F-5C6A-577E-03FF-E04E45BB8B0E}"/>
              </a:ext>
            </a:extLst>
          </p:cNvPr>
          <p:cNvCxnSpPr>
            <a:cxnSpLocks/>
            <a:stCxn id="74" idx="3"/>
            <a:endCxn id="67" idx="1"/>
          </p:cNvCxnSpPr>
          <p:nvPr/>
        </p:nvCxnSpPr>
        <p:spPr>
          <a:xfrm flipV="1">
            <a:off x="3927443" y="3702588"/>
            <a:ext cx="493131" cy="1442224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C1BAEFD3-265A-CC5A-C525-03B4E2348D3C}"/>
              </a:ext>
            </a:extLst>
          </p:cNvPr>
          <p:cNvCxnSpPr>
            <a:cxnSpLocks/>
            <a:stCxn id="41" idx="2"/>
            <a:endCxn id="67" idx="1"/>
          </p:cNvCxnSpPr>
          <p:nvPr/>
        </p:nvCxnSpPr>
        <p:spPr>
          <a:xfrm>
            <a:off x="3956770" y="2550926"/>
            <a:ext cx="463804" cy="1151662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60072F94-81A8-CD97-A217-04B0B3B29AE3}"/>
              </a:ext>
            </a:extLst>
          </p:cNvPr>
          <p:cNvCxnSpPr>
            <a:cxnSpLocks/>
            <a:stCxn id="67" idx="3"/>
            <a:endCxn id="107" idx="1"/>
          </p:cNvCxnSpPr>
          <p:nvPr/>
        </p:nvCxnSpPr>
        <p:spPr>
          <a:xfrm flipV="1">
            <a:off x="5343464" y="1795877"/>
            <a:ext cx="765923" cy="1906711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DB0202CD-3442-0DB0-EF49-2A146A6CC8CF}"/>
              </a:ext>
            </a:extLst>
          </p:cNvPr>
          <p:cNvGrpSpPr/>
          <p:nvPr/>
        </p:nvGrpSpPr>
        <p:grpSpPr>
          <a:xfrm>
            <a:off x="6100051" y="1339128"/>
            <a:ext cx="932226" cy="1120033"/>
            <a:chOff x="7098465" y="3190241"/>
            <a:chExt cx="932226" cy="1120033"/>
          </a:xfrm>
        </p:grpSpPr>
        <p:sp>
          <p:nvSpPr>
            <p:cNvPr id="106" name="Stockage interne 105">
              <a:extLst>
                <a:ext uri="{FF2B5EF4-FFF2-40B4-BE49-F238E27FC236}">
                  <a16:creationId xmlns:a16="http://schemas.microsoft.com/office/drawing/2014/main" id="{D81A32AA-E8C3-6771-7D76-0FA0BCF41F50}"/>
                </a:ext>
              </a:extLst>
            </p:cNvPr>
            <p:cNvSpPr/>
            <p:nvPr/>
          </p:nvSpPr>
          <p:spPr>
            <a:xfrm>
              <a:off x="7098465" y="3190241"/>
              <a:ext cx="835547" cy="1120033"/>
            </a:xfrm>
            <a:prstGeom prst="flowChartInternalStorag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7" name="ZoneTexte 106">
              <a:extLst>
                <a:ext uri="{FF2B5EF4-FFF2-40B4-BE49-F238E27FC236}">
                  <a16:creationId xmlns:a16="http://schemas.microsoft.com/office/drawing/2014/main" id="{062DD939-9C95-AAD2-1164-3314F56B25D6}"/>
                </a:ext>
              </a:extLst>
            </p:cNvPr>
            <p:cNvSpPr txBox="1"/>
            <p:nvPr/>
          </p:nvSpPr>
          <p:spPr>
            <a:xfrm>
              <a:off x="7107801" y="3439241"/>
              <a:ext cx="922890" cy="41549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fr-FR" sz="1050" dirty="0"/>
                <a:t>Data model (</a:t>
              </a:r>
              <a:r>
                <a:rPr lang="fr-FR" sz="1050" dirty="0" err="1"/>
                <a:t>Metadata</a:t>
              </a:r>
              <a:r>
                <a:rPr lang="fr-FR" sz="1050" dirty="0"/>
                <a:t>)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C5D8E2E-C3C4-1210-3A50-11BF4F9C1338}"/>
                </a:ext>
              </a:extLst>
            </p:cNvPr>
            <p:cNvSpPr/>
            <p:nvPr/>
          </p:nvSpPr>
          <p:spPr>
            <a:xfrm>
              <a:off x="7305296" y="4046292"/>
              <a:ext cx="527900" cy="2639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/>
                <a:t>.XLSX</a:t>
              </a:r>
            </a:p>
          </p:txBody>
        </p:sp>
      </p:grpSp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F746B400-E178-B340-4A26-508BD68516D3}"/>
              </a:ext>
            </a:extLst>
          </p:cNvPr>
          <p:cNvGrpSpPr/>
          <p:nvPr/>
        </p:nvGrpSpPr>
        <p:grpSpPr>
          <a:xfrm>
            <a:off x="7417592" y="1103783"/>
            <a:ext cx="1294353" cy="1919742"/>
            <a:chOff x="7177870" y="4504657"/>
            <a:chExt cx="1294353" cy="1919742"/>
          </a:xfrm>
        </p:grpSpPr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869FA692-D66B-7725-861F-D385508C33CD}"/>
                </a:ext>
              </a:extLst>
            </p:cNvPr>
            <p:cNvGrpSpPr/>
            <p:nvPr/>
          </p:nvGrpSpPr>
          <p:grpSpPr>
            <a:xfrm>
              <a:off x="7178673" y="4504657"/>
              <a:ext cx="1292747" cy="1577233"/>
              <a:chOff x="6519092" y="3190241"/>
              <a:chExt cx="1292747" cy="1577233"/>
            </a:xfrm>
          </p:grpSpPr>
          <p:grpSp>
            <p:nvGrpSpPr>
              <p:cNvPr id="112" name="Groupe 111">
                <a:extLst>
                  <a:ext uri="{FF2B5EF4-FFF2-40B4-BE49-F238E27FC236}">
                    <a16:creationId xmlns:a16="http://schemas.microsoft.com/office/drawing/2014/main" id="{01D90EF2-88AE-1635-C9DB-B543ED2BD2C6}"/>
                  </a:ext>
                </a:extLst>
              </p:cNvPr>
              <p:cNvGrpSpPr/>
              <p:nvPr/>
            </p:nvGrpSpPr>
            <p:grpSpPr>
              <a:xfrm>
                <a:off x="6519092" y="3190241"/>
                <a:ext cx="835547" cy="1120033"/>
                <a:chOff x="7098465" y="3190241"/>
                <a:chExt cx="835547" cy="1120033"/>
              </a:xfrm>
            </p:grpSpPr>
            <p:sp>
              <p:nvSpPr>
                <p:cNvPr id="113" name="Stockage interne 112">
                  <a:extLst>
                    <a:ext uri="{FF2B5EF4-FFF2-40B4-BE49-F238E27FC236}">
                      <a16:creationId xmlns:a16="http://schemas.microsoft.com/office/drawing/2014/main" id="{1B9BA510-A7D1-20B9-E815-2893901EAD8F}"/>
                    </a:ext>
                  </a:extLst>
                </p:cNvPr>
                <p:cNvSpPr/>
                <p:nvPr/>
              </p:nvSpPr>
              <p:spPr>
                <a:xfrm>
                  <a:off x="7098465" y="3190241"/>
                  <a:ext cx="835547" cy="1120033"/>
                </a:xfrm>
                <a:prstGeom prst="flowChartInternalStorag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114" name="ZoneTexte 113">
                  <a:extLst>
                    <a:ext uri="{FF2B5EF4-FFF2-40B4-BE49-F238E27FC236}">
                      <a16:creationId xmlns:a16="http://schemas.microsoft.com/office/drawing/2014/main" id="{AB8A1DC8-12B4-641E-DC3A-7B4382F1CC08}"/>
                    </a:ext>
                  </a:extLst>
                </p:cNvPr>
                <p:cNvSpPr txBox="1"/>
                <p:nvPr/>
              </p:nvSpPr>
              <p:spPr>
                <a:xfrm>
                  <a:off x="7213817" y="3478997"/>
                  <a:ext cx="709263" cy="323165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Data model (</a:t>
                  </a:r>
                  <a:r>
                    <a:rPr lang="fr-FR" sz="105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Metadata</a:t>
                  </a:r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)</a:t>
                  </a: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58FB8EC9-F8D8-3179-4C45-24D27AB557BA}"/>
                    </a:ext>
                  </a:extLst>
                </p:cNvPr>
                <p:cNvSpPr/>
                <p:nvPr/>
              </p:nvSpPr>
              <p:spPr>
                <a:xfrm>
                  <a:off x="7305296" y="4046292"/>
                  <a:ext cx="527900" cy="26398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.XLSX</a:t>
                  </a:r>
                </a:p>
              </p:txBody>
            </p:sp>
          </p:grpSp>
          <p:grpSp>
            <p:nvGrpSpPr>
              <p:cNvPr id="116" name="Groupe 115">
                <a:extLst>
                  <a:ext uri="{FF2B5EF4-FFF2-40B4-BE49-F238E27FC236}">
                    <a16:creationId xmlns:a16="http://schemas.microsoft.com/office/drawing/2014/main" id="{19484673-C398-9AA9-2BCD-19FAE64EA389}"/>
                  </a:ext>
                </a:extLst>
              </p:cNvPr>
              <p:cNvGrpSpPr/>
              <p:nvPr/>
            </p:nvGrpSpPr>
            <p:grpSpPr>
              <a:xfrm>
                <a:off x="6671492" y="3342641"/>
                <a:ext cx="835547" cy="1120033"/>
                <a:chOff x="7098465" y="3190241"/>
                <a:chExt cx="835547" cy="1120033"/>
              </a:xfrm>
            </p:grpSpPr>
            <p:sp>
              <p:nvSpPr>
                <p:cNvPr id="117" name="Stockage interne 116">
                  <a:extLst>
                    <a:ext uri="{FF2B5EF4-FFF2-40B4-BE49-F238E27FC236}">
                      <a16:creationId xmlns:a16="http://schemas.microsoft.com/office/drawing/2014/main" id="{87D5AA76-7D96-F109-2828-F47F138076F4}"/>
                    </a:ext>
                  </a:extLst>
                </p:cNvPr>
                <p:cNvSpPr/>
                <p:nvPr/>
              </p:nvSpPr>
              <p:spPr>
                <a:xfrm>
                  <a:off x="7098465" y="3190241"/>
                  <a:ext cx="835547" cy="1120033"/>
                </a:xfrm>
                <a:prstGeom prst="flowChartInternalStorag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118" name="ZoneTexte 117">
                  <a:extLst>
                    <a:ext uri="{FF2B5EF4-FFF2-40B4-BE49-F238E27FC236}">
                      <a16:creationId xmlns:a16="http://schemas.microsoft.com/office/drawing/2014/main" id="{6EA0BE4A-A5C0-88FD-AEEE-6AE86B62E030}"/>
                    </a:ext>
                  </a:extLst>
                </p:cNvPr>
                <p:cNvSpPr txBox="1"/>
                <p:nvPr/>
              </p:nvSpPr>
              <p:spPr>
                <a:xfrm>
                  <a:off x="7213817" y="3478997"/>
                  <a:ext cx="709263" cy="323165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Data model (</a:t>
                  </a:r>
                  <a:r>
                    <a:rPr lang="fr-FR" sz="105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Metadata</a:t>
                  </a:r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)</a:t>
                  </a: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46119052-6FBD-EDA7-B80E-BB749C537F98}"/>
                    </a:ext>
                  </a:extLst>
                </p:cNvPr>
                <p:cNvSpPr/>
                <p:nvPr/>
              </p:nvSpPr>
              <p:spPr>
                <a:xfrm>
                  <a:off x="7305296" y="4046292"/>
                  <a:ext cx="527900" cy="26398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.XLSX</a:t>
                  </a:r>
                </a:p>
              </p:txBody>
            </p:sp>
          </p:grpSp>
          <p:grpSp>
            <p:nvGrpSpPr>
              <p:cNvPr id="120" name="Groupe 119">
                <a:extLst>
                  <a:ext uri="{FF2B5EF4-FFF2-40B4-BE49-F238E27FC236}">
                    <a16:creationId xmlns:a16="http://schemas.microsoft.com/office/drawing/2014/main" id="{881DFE98-63B6-66F5-8864-494876B72B4B}"/>
                  </a:ext>
                </a:extLst>
              </p:cNvPr>
              <p:cNvGrpSpPr/>
              <p:nvPr/>
            </p:nvGrpSpPr>
            <p:grpSpPr>
              <a:xfrm>
                <a:off x="6823892" y="3495041"/>
                <a:ext cx="835547" cy="1120033"/>
                <a:chOff x="7098465" y="3190241"/>
                <a:chExt cx="835547" cy="1120033"/>
              </a:xfrm>
            </p:grpSpPr>
            <p:sp>
              <p:nvSpPr>
                <p:cNvPr id="121" name="Stockage interne 120">
                  <a:extLst>
                    <a:ext uri="{FF2B5EF4-FFF2-40B4-BE49-F238E27FC236}">
                      <a16:creationId xmlns:a16="http://schemas.microsoft.com/office/drawing/2014/main" id="{0C55ECC1-E70A-BA83-282B-AE5A592F8EBF}"/>
                    </a:ext>
                  </a:extLst>
                </p:cNvPr>
                <p:cNvSpPr/>
                <p:nvPr/>
              </p:nvSpPr>
              <p:spPr>
                <a:xfrm>
                  <a:off x="7098465" y="3190241"/>
                  <a:ext cx="835547" cy="1120033"/>
                </a:xfrm>
                <a:prstGeom prst="flowChartInternalStorag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122" name="ZoneTexte 121">
                  <a:extLst>
                    <a:ext uri="{FF2B5EF4-FFF2-40B4-BE49-F238E27FC236}">
                      <a16:creationId xmlns:a16="http://schemas.microsoft.com/office/drawing/2014/main" id="{6CEBFA58-3954-2D32-8133-85AD27AE10DA}"/>
                    </a:ext>
                  </a:extLst>
                </p:cNvPr>
                <p:cNvSpPr txBox="1"/>
                <p:nvPr/>
              </p:nvSpPr>
              <p:spPr>
                <a:xfrm>
                  <a:off x="7213817" y="3478997"/>
                  <a:ext cx="709263" cy="323165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Data model (</a:t>
                  </a:r>
                  <a:r>
                    <a:rPr lang="fr-FR" sz="105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Metadata</a:t>
                  </a:r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)</a:t>
                  </a: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76216787-3832-881C-9DEC-D8CB99795C98}"/>
                    </a:ext>
                  </a:extLst>
                </p:cNvPr>
                <p:cNvSpPr/>
                <p:nvPr/>
              </p:nvSpPr>
              <p:spPr>
                <a:xfrm>
                  <a:off x="7305296" y="4046292"/>
                  <a:ext cx="527900" cy="26398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.XLSX</a:t>
                  </a:r>
                </a:p>
              </p:txBody>
            </p:sp>
          </p:grpSp>
          <p:grpSp>
            <p:nvGrpSpPr>
              <p:cNvPr id="124" name="Groupe 123">
                <a:extLst>
                  <a:ext uri="{FF2B5EF4-FFF2-40B4-BE49-F238E27FC236}">
                    <a16:creationId xmlns:a16="http://schemas.microsoft.com/office/drawing/2014/main" id="{ADFCA1B3-766E-2AB0-281D-3E633DE09131}"/>
                  </a:ext>
                </a:extLst>
              </p:cNvPr>
              <p:cNvGrpSpPr/>
              <p:nvPr/>
            </p:nvGrpSpPr>
            <p:grpSpPr>
              <a:xfrm>
                <a:off x="6976292" y="3647441"/>
                <a:ext cx="835547" cy="1120033"/>
                <a:chOff x="7098465" y="3190241"/>
                <a:chExt cx="835547" cy="1120033"/>
              </a:xfrm>
            </p:grpSpPr>
            <p:sp>
              <p:nvSpPr>
                <p:cNvPr id="125" name="Stockage interne 124">
                  <a:extLst>
                    <a:ext uri="{FF2B5EF4-FFF2-40B4-BE49-F238E27FC236}">
                      <a16:creationId xmlns:a16="http://schemas.microsoft.com/office/drawing/2014/main" id="{39DA0764-F47D-CE91-CD34-4816EB6552CA}"/>
                    </a:ext>
                  </a:extLst>
                </p:cNvPr>
                <p:cNvSpPr/>
                <p:nvPr/>
              </p:nvSpPr>
              <p:spPr>
                <a:xfrm>
                  <a:off x="7098465" y="3190241"/>
                  <a:ext cx="835547" cy="1120033"/>
                </a:xfrm>
                <a:prstGeom prst="flowChartInternalStorag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  <p:sp>
              <p:nvSpPr>
                <p:cNvPr id="126" name="ZoneTexte 125">
                  <a:extLst>
                    <a:ext uri="{FF2B5EF4-FFF2-40B4-BE49-F238E27FC236}">
                      <a16:creationId xmlns:a16="http://schemas.microsoft.com/office/drawing/2014/main" id="{E5310782-21CA-47A9-E68E-BAA6593276EC}"/>
                    </a:ext>
                  </a:extLst>
                </p:cNvPr>
                <p:cNvSpPr txBox="1"/>
                <p:nvPr/>
              </p:nvSpPr>
              <p:spPr>
                <a:xfrm>
                  <a:off x="7213817" y="3478997"/>
                  <a:ext cx="709263" cy="323165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Data model (</a:t>
                  </a:r>
                  <a:r>
                    <a:rPr lang="fr-FR" sz="105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Metadata</a:t>
                  </a:r>
                  <a:r>
                    <a:rPr lang="fr-FR" sz="105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)</a:t>
                  </a: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50332CBF-3677-E731-9EE9-7C5C0CBEC54D}"/>
                    </a:ext>
                  </a:extLst>
                </p:cNvPr>
                <p:cNvSpPr/>
                <p:nvPr/>
              </p:nvSpPr>
              <p:spPr>
                <a:xfrm>
                  <a:off x="7305296" y="4046292"/>
                  <a:ext cx="527900" cy="26398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.XLSX</a:t>
                  </a:r>
                </a:p>
              </p:txBody>
            </p:sp>
          </p:grpSp>
        </p:grpSp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1FF2E0D7-DFB0-131A-9BEE-F41F505469D7}"/>
                </a:ext>
              </a:extLst>
            </p:cNvPr>
            <p:cNvSpPr txBox="1"/>
            <p:nvPr/>
          </p:nvSpPr>
          <p:spPr>
            <a:xfrm>
              <a:off x="7177870" y="6147400"/>
              <a:ext cx="1294353" cy="276999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0" rIns="0" rtlCol="0">
              <a:spAutoFit/>
            </a:bodyPr>
            <a:lstStyle/>
            <a:p>
              <a:pPr algn="ctr"/>
              <a:r>
                <a:rPr lang="fr-FR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Other</a:t>
              </a:r>
              <a:r>
                <a:rPr lang="fr-F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centers</a:t>
              </a:r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332EFFF-E62A-8382-E70D-58ADEFA421D6}"/>
              </a:ext>
            </a:extLst>
          </p:cNvPr>
          <p:cNvSpPr/>
          <p:nvPr/>
        </p:nvSpPr>
        <p:spPr>
          <a:xfrm>
            <a:off x="5980492" y="3806483"/>
            <a:ext cx="2919503" cy="1788819"/>
          </a:xfrm>
          <a:custGeom>
            <a:avLst/>
            <a:gdLst>
              <a:gd name="csX0" fmla="*/ 0 w 2919503"/>
              <a:gd name="csY0" fmla="*/ 0 h 1788819"/>
              <a:gd name="csX1" fmla="*/ 554706 w 2919503"/>
              <a:gd name="csY1" fmla="*/ 0 h 1788819"/>
              <a:gd name="csX2" fmla="*/ 1051021 w 2919503"/>
              <a:gd name="csY2" fmla="*/ 0 h 1788819"/>
              <a:gd name="csX3" fmla="*/ 1576532 w 2919503"/>
              <a:gd name="csY3" fmla="*/ 0 h 1788819"/>
              <a:gd name="csX4" fmla="*/ 2189627 w 2919503"/>
              <a:gd name="csY4" fmla="*/ 0 h 1788819"/>
              <a:gd name="csX5" fmla="*/ 2919503 w 2919503"/>
              <a:gd name="csY5" fmla="*/ 0 h 1788819"/>
              <a:gd name="csX6" fmla="*/ 2919503 w 2919503"/>
              <a:gd name="csY6" fmla="*/ 560497 h 1788819"/>
              <a:gd name="csX7" fmla="*/ 2919503 w 2919503"/>
              <a:gd name="csY7" fmla="*/ 1103105 h 1788819"/>
              <a:gd name="csX8" fmla="*/ 2919503 w 2919503"/>
              <a:gd name="csY8" fmla="*/ 1788819 h 1788819"/>
              <a:gd name="csX9" fmla="*/ 2335602 w 2919503"/>
              <a:gd name="csY9" fmla="*/ 1788819 h 1788819"/>
              <a:gd name="csX10" fmla="*/ 1810092 w 2919503"/>
              <a:gd name="csY10" fmla="*/ 1788819 h 1788819"/>
              <a:gd name="csX11" fmla="*/ 1167801 w 2919503"/>
              <a:gd name="csY11" fmla="*/ 1788819 h 1788819"/>
              <a:gd name="csX12" fmla="*/ 613096 w 2919503"/>
              <a:gd name="csY12" fmla="*/ 1788819 h 1788819"/>
              <a:gd name="csX13" fmla="*/ 0 w 2919503"/>
              <a:gd name="csY13" fmla="*/ 1788819 h 1788819"/>
              <a:gd name="csX14" fmla="*/ 0 w 2919503"/>
              <a:gd name="csY14" fmla="*/ 1174658 h 1788819"/>
              <a:gd name="csX15" fmla="*/ 0 w 2919503"/>
              <a:gd name="csY15" fmla="*/ 596273 h 1788819"/>
              <a:gd name="csX16" fmla="*/ 0 w 2919503"/>
              <a:gd name="csY16" fmla="*/ 0 h 1788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919503" h="1788819" fill="none" extrusionOk="0">
                <a:moveTo>
                  <a:pt x="0" y="0"/>
                </a:moveTo>
                <a:cubicBezTo>
                  <a:pt x="172754" y="-56444"/>
                  <a:pt x="324955" y="18408"/>
                  <a:pt x="554706" y="0"/>
                </a:cubicBezTo>
                <a:cubicBezTo>
                  <a:pt x="784457" y="-18408"/>
                  <a:pt x="834947" y="48207"/>
                  <a:pt x="1051021" y="0"/>
                </a:cubicBezTo>
                <a:cubicBezTo>
                  <a:pt x="1267096" y="-48207"/>
                  <a:pt x="1431707" y="369"/>
                  <a:pt x="1576532" y="0"/>
                </a:cubicBezTo>
                <a:cubicBezTo>
                  <a:pt x="1721357" y="-369"/>
                  <a:pt x="1902960" y="67644"/>
                  <a:pt x="2189627" y="0"/>
                </a:cubicBezTo>
                <a:cubicBezTo>
                  <a:pt x="2476294" y="-67644"/>
                  <a:pt x="2634359" y="9126"/>
                  <a:pt x="2919503" y="0"/>
                </a:cubicBezTo>
                <a:cubicBezTo>
                  <a:pt x="2936573" y="149195"/>
                  <a:pt x="2892543" y="340867"/>
                  <a:pt x="2919503" y="560497"/>
                </a:cubicBezTo>
                <a:cubicBezTo>
                  <a:pt x="2946463" y="780127"/>
                  <a:pt x="2889971" y="922856"/>
                  <a:pt x="2919503" y="1103105"/>
                </a:cubicBezTo>
                <a:cubicBezTo>
                  <a:pt x="2949035" y="1283354"/>
                  <a:pt x="2859888" y="1643949"/>
                  <a:pt x="2919503" y="1788819"/>
                </a:cubicBezTo>
                <a:cubicBezTo>
                  <a:pt x="2724895" y="1829938"/>
                  <a:pt x="2492797" y="1721644"/>
                  <a:pt x="2335602" y="1788819"/>
                </a:cubicBezTo>
                <a:cubicBezTo>
                  <a:pt x="2178407" y="1855994"/>
                  <a:pt x="2034233" y="1733185"/>
                  <a:pt x="1810092" y="1788819"/>
                </a:cubicBezTo>
                <a:cubicBezTo>
                  <a:pt x="1585951" y="1844453"/>
                  <a:pt x="1443754" y="1752733"/>
                  <a:pt x="1167801" y="1788819"/>
                </a:cubicBezTo>
                <a:cubicBezTo>
                  <a:pt x="891848" y="1824905"/>
                  <a:pt x="879354" y="1739305"/>
                  <a:pt x="613096" y="1788819"/>
                </a:cubicBezTo>
                <a:cubicBezTo>
                  <a:pt x="346838" y="1838333"/>
                  <a:pt x="172517" y="1784164"/>
                  <a:pt x="0" y="1788819"/>
                </a:cubicBezTo>
                <a:cubicBezTo>
                  <a:pt x="-20089" y="1611433"/>
                  <a:pt x="28551" y="1479858"/>
                  <a:pt x="0" y="1174658"/>
                </a:cubicBezTo>
                <a:cubicBezTo>
                  <a:pt x="-28551" y="869458"/>
                  <a:pt x="54668" y="826201"/>
                  <a:pt x="0" y="596273"/>
                </a:cubicBezTo>
                <a:cubicBezTo>
                  <a:pt x="-54668" y="366346"/>
                  <a:pt x="25467" y="235761"/>
                  <a:pt x="0" y="0"/>
                </a:cubicBezTo>
                <a:close/>
              </a:path>
              <a:path w="2919503" h="1788819" stroke="0" extrusionOk="0">
                <a:moveTo>
                  <a:pt x="0" y="0"/>
                </a:moveTo>
                <a:cubicBezTo>
                  <a:pt x="262825" y="-65762"/>
                  <a:pt x="425298" y="24565"/>
                  <a:pt x="554706" y="0"/>
                </a:cubicBezTo>
                <a:cubicBezTo>
                  <a:pt x="684114" y="-24565"/>
                  <a:pt x="859843" y="1756"/>
                  <a:pt x="1051021" y="0"/>
                </a:cubicBezTo>
                <a:cubicBezTo>
                  <a:pt x="1242199" y="-1756"/>
                  <a:pt x="1564400" y="41420"/>
                  <a:pt x="1693312" y="0"/>
                </a:cubicBezTo>
                <a:cubicBezTo>
                  <a:pt x="1822224" y="-41420"/>
                  <a:pt x="2013028" y="39477"/>
                  <a:pt x="2248017" y="0"/>
                </a:cubicBezTo>
                <a:cubicBezTo>
                  <a:pt x="2483006" y="-39477"/>
                  <a:pt x="2626004" y="76627"/>
                  <a:pt x="2919503" y="0"/>
                </a:cubicBezTo>
                <a:cubicBezTo>
                  <a:pt x="2939434" y="276376"/>
                  <a:pt x="2875866" y="341336"/>
                  <a:pt x="2919503" y="632049"/>
                </a:cubicBezTo>
                <a:cubicBezTo>
                  <a:pt x="2963140" y="922762"/>
                  <a:pt x="2891863" y="1038420"/>
                  <a:pt x="2919503" y="1228322"/>
                </a:cubicBezTo>
                <a:cubicBezTo>
                  <a:pt x="2947143" y="1418224"/>
                  <a:pt x="2905257" y="1517214"/>
                  <a:pt x="2919503" y="1788819"/>
                </a:cubicBezTo>
                <a:cubicBezTo>
                  <a:pt x="2725793" y="1807989"/>
                  <a:pt x="2559374" y="1761742"/>
                  <a:pt x="2393992" y="1788819"/>
                </a:cubicBezTo>
                <a:cubicBezTo>
                  <a:pt x="2228610" y="1815896"/>
                  <a:pt x="2067919" y="1782757"/>
                  <a:pt x="1810092" y="1788819"/>
                </a:cubicBezTo>
                <a:cubicBezTo>
                  <a:pt x="1552265" y="1794881"/>
                  <a:pt x="1363260" y="1741667"/>
                  <a:pt x="1226191" y="1788819"/>
                </a:cubicBezTo>
                <a:cubicBezTo>
                  <a:pt x="1089122" y="1835971"/>
                  <a:pt x="828563" y="1778028"/>
                  <a:pt x="671486" y="1788819"/>
                </a:cubicBezTo>
                <a:cubicBezTo>
                  <a:pt x="514409" y="1799610"/>
                  <a:pt x="306442" y="1765832"/>
                  <a:pt x="0" y="1788819"/>
                </a:cubicBezTo>
                <a:cubicBezTo>
                  <a:pt x="-57632" y="1537119"/>
                  <a:pt x="29022" y="1426736"/>
                  <a:pt x="0" y="1156770"/>
                </a:cubicBezTo>
                <a:cubicBezTo>
                  <a:pt x="-29022" y="886804"/>
                  <a:pt x="74752" y="829322"/>
                  <a:pt x="0" y="524720"/>
                </a:cubicBezTo>
                <a:cubicBezTo>
                  <a:pt x="-74752" y="220118"/>
                  <a:pt x="43434" y="129762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2.2 </a:t>
            </a:r>
            <a:r>
              <a:rPr lang="fr-FR" sz="1600" b="1" dirty="0" err="1"/>
              <a:t>CDEs</a:t>
            </a:r>
            <a:r>
              <a:rPr lang="fr-FR" sz="1600" b="1" dirty="0"/>
              <a:t> </a:t>
            </a:r>
            <a:r>
              <a:rPr lang="fr-FR" sz="1600" b="1" dirty="0" err="1"/>
              <a:t>definition</a:t>
            </a:r>
            <a:r>
              <a:rPr lang="fr-FR" sz="1600" b="1" dirty="0"/>
              <a:t> </a:t>
            </a:r>
            <a:r>
              <a:rPr lang="fr-FR" sz="1600" b="1" dirty="0" err="1"/>
              <a:t>between</a:t>
            </a:r>
            <a:r>
              <a:rPr lang="fr-FR" sz="1600" b="1" dirty="0"/>
              <a:t> centers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H" sz="1400" dirty="0" err="1"/>
              <a:t>Agree</a:t>
            </a:r>
            <a:r>
              <a:rPr lang="fr-CH" sz="1400" dirty="0"/>
              <a:t> </a:t>
            </a:r>
            <a:r>
              <a:rPr lang="fr-CH" sz="1400" dirty="0" err="1"/>
              <a:t>upon</a:t>
            </a:r>
            <a:r>
              <a:rPr lang="fr-FR" sz="1400" dirty="0"/>
              <a:t> the </a:t>
            </a:r>
            <a:r>
              <a:rPr lang="fr-FR" sz="1400" dirty="0" err="1"/>
              <a:t>list</a:t>
            </a:r>
            <a:r>
              <a:rPr lang="fr-FR" sz="1400" dirty="0"/>
              <a:t> of variables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H" sz="1400" dirty="0" err="1"/>
              <a:t>Agree</a:t>
            </a:r>
            <a:r>
              <a:rPr lang="fr-CH" sz="1400" dirty="0"/>
              <a:t> </a:t>
            </a:r>
            <a:r>
              <a:rPr lang="fr-CH" sz="1400" dirty="0" err="1"/>
              <a:t>upon</a:t>
            </a:r>
            <a:r>
              <a:rPr lang="fr-CH" sz="1400" dirty="0"/>
              <a:t> codification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H" sz="1400" dirty="0" err="1"/>
              <a:t>Agree</a:t>
            </a:r>
            <a:r>
              <a:rPr lang="fr-CH" sz="1400" dirty="0"/>
              <a:t> </a:t>
            </a:r>
            <a:r>
              <a:rPr lang="fr-CH" sz="1400" dirty="0" err="1"/>
              <a:t>upon</a:t>
            </a:r>
            <a:r>
              <a:rPr lang="fr-CH" sz="1400" dirty="0"/>
              <a:t> the unit and range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H" sz="1400" dirty="0" err="1"/>
              <a:t>Agree</a:t>
            </a:r>
            <a:r>
              <a:rPr lang="fr-CH" sz="1400" dirty="0"/>
              <a:t> </a:t>
            </a:r>
            <a:r>
              <a:rPr lang="fr-CH" sz="1400" dirty="0" err="1"/>
              <a:t>upon</a:t>
            </a:r>
            <a:r>
              <a:rPr lang="fr-CH" sz="1400" dirty="0"/>
              <a:t> the </a:t>
            </a:r>
            <a:r>
              <a:rPr lang="fr-CH" sz="1400" dirty="0" err="1"/>
              <a:t>methodology</a:t>
            </a:r>
            <a:r>
              <a:rPr lang="fr-CH" sz="1400" dirty="0"/>
              <a:t> </a:t>
            </a:r>
            <a:r>
              <a:rPr lang="fr-CH" sz="1400" dirty="0" err="1"/>
              <a:t>followed</a:t>
            </a:r>
            <a:endParaRPr lang="fr-FR" sz="1400" dirty="0"/>
          </a:p>
        </p:txBody>
      </p:sp>
      <p:sp>
        <p:nvSpPr>
          <p:cNvPr id="134" name="Accolade fermante 133">
            <a:extLst>
              <a:ext uri="{FF2B5EF4-FFF2-40B4-BE49-F238E27FC236}">
                <a16:creationId xmlns:a16="http://schemas.microsoft.com/office/drawing/2014/main" id="{9FE732B1-5A60-9689-C292-B43EE7AAD53E}"/>
              </a:ext>
            </a:extLst>
          </p:cNvPr>
          <p:cNvSpPr/>
          <p:nvPr/>
        </p:nvSpPr>
        <p:spPr>
          <a:xfrm rot="5400000">
            <a:off x="7194985" y="2098530"/>
            <a:ext cx="488381" cy="2543932"/>
          </a:xfrm>
          <a:prstGeom prst="rightBrace">
            <a:avLst>
              <a:gd name="adj1" fmla="val 58949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B43209D3-3870-676F-E773-187034DD9136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7440244" y="5595302"/>
            <a:ext cx="0" cy="552098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2542881-F3E4-6DBD-1941-438C4AD3C2F1}"/>
              </a:ext>
            </a:extLst>
          </p:cNvPr>
          <p:cNvSpPr txBox="1"/>
          <p:nvPr/>
        </p:nvSpPr>
        <p:spPr>
          <a:xfrm>
            <a:off x="6823570" y="6161023"/>
            <a:ext cx="1294353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fr-FR" sz="1200" b="1" dirty="0"/>
              <a:t>2.3 </a:t>
            </a:r>
            <a:r>
              <a:rPr lang="fr-FR" sz="1200" b="1" dirty="0" err="1"/>
              <a:t>CDEs</a:t>
            </a:r>
            <a:r>
              <a:rPr lang="fr-FR" sz="1200" b="1" dirty="0"/>
              <a:t> </a:t>
            </a:r>
            <a:r>
              <a:rPr lang="fr-FR" sz="1200" b="1" dirty="0" err="1"/>
              <a:t>json</a:t>
            </a:r>
            <a:r>
              <a:rPr lang="fr-FR" sz="1200" b="1" dirty="0"/>
              <a:t> format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4B8D95B-CB0C-6B8E-53D4-94810A0092B6}"/>
              </a:ext>
            </a:extLst>
          </p:cNvPr>
          <p:cNvSpPr/>
          <p:nvPr/>
        </p:nvSpPr>
        <p:spPr>
          <a:xfrm>
            <a:off x="8276732" y="5278576"/>
            <a:ext cx="527900" cy="263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dirty="0"/>
              <a:t>.XLSX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6B67D74-0774-44A7-0413-86762EC7A239}"/>
              </a:ext>
            </a:extLst>
          </p:cNvPr>
          <p:cNvSpPr/>
          <p:nvPr/>
        </p:nvSpPr>
        <p:spPr>
          <a:xfrm>
            <a:off x="9562992" y="1215194"/>
            <a:ext cx="2313269" cy="2213806"/>
          </a:xfrm>
          <a:custGeom>
            <a:avLst/>
            <a:gdLst>
              <a:gd name="csX0" fmla="*/ 0 w 2313269"/>
              <a:gd name="csY0" fmla="*/ 0 h 2213806"/>
              <a:gd name="csX1" fmla="*/ 578317 w 2313269"/>
              <a:gd name="csY1" fmla="*/ 0 h 2213806"/>
              <a:gd name="csX2" fmla="*/ 1179767 w 2313269"/>
              <a:gd name="csY2" fmla="*/ 0 h 2213806"/>
              <a:gd name="csX3" fmla="*/ 1688686 w 2313269"/>
              <a:gd name="csY3" fmla="*/ 0 h 2213806"/>
              <a:gd name="csX4" fmla="*/ 2313269 w 2313269"/>
              <a:gd name="csY4" fmla="*/ 0 h 2213806"/>
              <a:gd name="csX5" fmla="*/ 2313269 w 2313269"/>
              <a:gd name="csY5" fmla="*/ 575590 h 2213806"/>
              <a:gd name="csX6" fmla="*/ 2313269 w 2313269"/>
              <a:gd name="csY6" fmla="*/ 1084765 h 2213806"/>
              <a:gd name="csX7" fmla="*/ 2313269 w 2313269"/>
              <a:gd name="csY7" fmla="*/ 1638216 h 2213806"/>
              <a:gd name="csX8" fmla="*/ 2313269 w 2313269"/>
              <a:gd name="csY8" fmla="*/ 2213806 h 2213806"/>
              <a:gd name="csX9" fmla="*/ 1804350 w 2313269"/>
              <a:gd name="csY9" fmla="*/ 2213806 h 2213806"/>
              <a:gd name="csX10" fmla="*/ 1202900 w 2313269"/>
              <a:gd name="csY10" fmla="*/ 2213806 h 2213806"/>
              <a:gd name="csX11" fmla="*/ 670848 w 2313269"/>
              <a:gd name="csY11" fmla="*/ 2213806 h 2213806"/>
              <a:gd name="csX12" fmla="*/ 0 w 2313269"/>
              <a:gd name="csY12" fmla="*/ 2213806 h 2213806"/>
              <a:gd name="csX13" fmla="*/ 0 w 2313269"/>
              <a:gd name="csY13" fmla="*/ 1682493 h 2213806"/>
              <a:gd name="csX14" fmla="*/ 0 w 2313269"/>
              <a:gd name="csY14" fmla="*/ 1129041 h 2213806"/>
              <a:gd name="csX15" fmla="*/ 0 w 2313269"/>
              <a:gd name="csY15" fmla="*/ 553452 h 2213806"/>
              <a:gd name="csX16" fmla="*/ 0 w 2313269"/>
              <a:gd name="csY16" fmla="*/ 0 h 2213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313269" h="2213806" fill="none" extrusionOk="0">
                <a:moveTo>
                  <a:pt x="0" y="0"/>
                </a:moveTo>
                <a:cubicBezTo>
                  <a:pt x="229642" y="-56555"/>
                  <a:pt x="324236" y="55525"/>
                  <a:pt x="578317" y="0"/>
                </a:cubicBezTo>
                <a:cubicBezTo>
                  <a:pt x="832398" y="-55525"/>
                  <a:pt x="956812" y="69330"/>
                  <a:pt x="1179767" y="0"/>
                </a:cubicBezTo>
                <a:cubicBezTo>
                  <a:pt x="1402722" y="-69330"/>
                  <a:pt x="1539756" y="58629"/>
                  <a:pt x="1688686" y="0"/>
                </a:cubicBezTo>
                <a:cubicBezTo>
                  <a:pt x="1837616" y="-58629"/>
                  <a:pt x="2082661" y="36928"/>
                  <a:pt x="2313269" y="0"/>
                </a:cubicBezTo>
                <a:cubicBezTo>
                  <a:pt x="2360545" y="275688"/>
                  <a:pt x="2297944" y="333875"/>
                  <a:pt x="2313269" y="575590"/>
                </a:cubicBezTo>
                <a:cubicBezTo>
                  <a:pt x="2328594" y="817305"/>
                  <a:pt x="2276195" y="839681"/>
                  <a:pt x="2313269" y="1084765"/>
                </a:cubicBezTo>
                <a:cubicBezTo>
                  <a:pt x="2350343" y="1329849"/>
                  <a:pt x="2299623" y="1459365"/>
                  <a:pt x="2313269" y="1638216"/>
                </a:cubicBezTo>
                <a:cubicBezTo>
                  <a:pt x="2326915" y="1817067"/>
                  <a:pt x="2308426" y="2001324"/>
                  <a:pt x="2313269" y="2213806"/>
                </a:cubicBezTo>
                <a:cubicBezTo>
                  <a:pt x="2207300" y="2217133"/>
                  <a:pt x="1926889" y="2182275"/>
                  <a:pt x="1804350" y="2213806"/>
                </a:cubicBezTo>
                <a:cubicBezTo>
                  <a:pt x="1681811" y="2245337"/>
                  <a:pt x="1362936" y="2187636"/>
                  <a:pt x="1202900" y="2213806"/>
                </a:cubicBezTo>
                <a:cubicBezTo>
                  <a:pt x="1042864" y="2239976"/>
                  <a:pt x="879249" y="2158525"/>
                  <a:pt x="670848" y="2213806"/>
                </a:cubicBezTo>
                <a:cubicBezTo>
                  <a:pt x="462447" y="2269087"/>
                  <a:pt x="179697" y="2174801"/>
                  <a:pt x="0" y="2213806"/>
                </a:cubicBezTo>
                <a:cubicBezTo>
                  <a:pt x="-27359" y="1962771"/>
                  <a:pt x="31957" y="1903375"/>
                  <a:pt x="0" y="1682493"/>
                </a:cubicBezTo>
                <a:cubicBezTo>
                  <a:pt x="-31957" y="1461611"/>
                  <a:pt x="51520" y="1257831"/>
                  <a:pt x="0" y="1129041"/>
                </a:cubicBezTo>
                <a:cubicBezTo>
                  <a:pt x="-51520" y="1000251"/>
                  <a:pt x="46739" y="788931"/>
                  <a:pt x="0" y="553452"/>
                </a:cubicBezTo>
                <a:cubicBezTo>
                  <a:pt x="-46739" y="317973"/>
                  <a:pt x="50996" y="116266"/>
                  <a:pt x="0" y="0"/>
                </a:cubicBezTo>
                <a:close/>
              </a:path>
              <a:path w="2313269" h="2213806" stroke="0" extrusionOk="0">
                <a:moveTo>
                  <a:pt x="0" y="0"/>
                </a:moveTo>
                <a:cubicBezTo>
                  <a:pt x="184941" y="-10409"/>
                  <a:pt x="360651" y="53463"/>
                  <a:pt x="555185" y="0"/>
                </a:cubicBezTo>
                <a:cubicBezTo>
                  <a:pt x="749720" y="-53463"/>
                  <a:pt x="958849" y="35775"/>
                  <a:pt x="1064104" y="0"/>
                </a:cubicBezTo>
                <a:cubicBezTo>
                  <a:pt x="1169359" y="-35775"/>
                  <a:pt x="1420519" y="32468"/>
                  <a:pt x="1688686" y="0"/>
                </a:cubicBezTo>
                <a:cubicBezTo>
                  <a:pt x="1956853" y="-32468"/>
                  <a:pt x="2009833" y="46919"/>
                  <a:pt x="2313269" y="0"/>
                </a:cubicBezTo>
                <a:cubicBezTo>
                  <a:pt x="2370530" y="240658"/>
                  <a:pt x="2275757" y="408606"/>
                  <a:pt x="2313269" y="531313"/>
                </a:cubicBezTo>
                <a:cubicBezTo>
                  <a:pt x="2350781" y="654020"/>
                  <a:pt x="2311039" y="878572"/>
                  <a:pt x="2313269" y="1040489"/>
                </a:cubicBezTo>
                <a:cubicBezTo>
                  <a:pt x="2315499" y="1202406"/>
                  <a:pt x="2293099" y="1354117"/>
                  <a:pt x="2313269" y="1593940"/>
                </a:cubicBezTo>
                <a:cubicBezTo>
                  <a:pt x="2333439" y="1833763"/>
                  <a:pt x="2247349" y="2080538"/>
                  <a:pt x="2313269" y="2213806"/>
                </a:cubicBezTo>
                <a:cubicBezTo>
                  <a:pt x="2064481" y="2276581"/>
                  <a:pt x="1917450" y="2211731"/>
                  <a:pt x="1781217" y="2213806"/>
                </a:cubicBezTo>
                <a:cubicBezTo>
                  <a:pt x="1644984" y="2215881"/>
                  <a:pt x="1401199" y="2158996"/>
                  <a:pt x="1202900" y="2213806"/>
                </a:cubicBezTo>
                <a:cubicBezTo>
                  <a:pt x="1004601" y="2268616"/>
                  <a:pt x="748120" y="2174290"/>
                  <a:pt x="624583" y="2213806"/>
                </a:cubicBezTo>
                <a:cubicBezTo>
                  <a:pt x="501046" y="2253322"/>
                  <a:pt x="178526" y="2188983"/>
                  <a:pt x="0" y="2213806"/>
                </a:cubicBezTo>
                <a:cubicBezTo>
                  <a:pt x="-56628" y="2029958"/>
                  <a:pt x="38068" y="1752277"/>
                  <a:pt x="0" y="1616078"/>
                </a:cubicBezTo>
                <a:cubicBezTo>
                  <a:pt x="-38068" y="1479879"/>
                  <a:pt x="15092" y="1181555"/>
                  <a:pt x="0" y="1018351"/>
                </a:cubicBezTo>
                <a:cubicBezTo>
                  <a:pt x="-15092" y="855147"/>
                  <a:pt x="76286" y="44418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3.1,2 </a:t>
            </a:r>
            <a:r>
              <a:rPr lang="fr-FR" sz="1600" b="1" dirty="0" err="1"/>
              <a:t>Dataset</a:t>
            </a:r>
            <a:r>
              <a:rPr lang="fr-FR" sz="1600" b="1" dirty="0"/>
              <a:t> harmonisation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400" dirty="0"/>
              <a:t>Csv can have </a:t>
            </a:r>
            <a:r>
              <a:rPr lang="fr-FR" sz="1400" dirty="0" err="1"/>
              <a:t>less</a:t>
            </a:r>
            <a:r>
              <a:rPr lang="fr-FR" sz="1400" dirty="0"/>
              <a:t> variable </a:t>
            </a:r>
            <a:r>
              <a:rPr lang="fr-FR" sz="1400" dirty="0" err="1"/>
              <a:t>than</a:t>
            </a:r>
            <a:r>
              <a:rPr lang="fr-FR" sz="1400" dirty="0"/>
              <a:t> the </a:t>
            </a:r>
            <a:r>
              <a:rPr lang="fr-FR" sz="1400" dirty="0" err="1"/>
              <a:t>CDEs</a:t>
            </a:r>
            <a:r>
              <a:rPr lang="fr-FR" sz="1400" dirty="0"/>
              <a:t> but NOT more.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H" sz="1400" dirty="0" err="1"/>
              <a:t>Align</a:t>
            </a:r>
            <a:r>
              <a:rPr lang="fr-CH" sz="1400" dirty="0"/>
              <a:t> codification, </a:t>
            </a:r>
            <a:r>
              <a:rPr lang="fr-CH" sz="1400" dirty="0" err="1"/>
              <a:t>naming</a:t>
            </a:r>
            <a:r>
              <a:rPr lang="fr-CH" sz="1400" dirty="0"/>
              <a:t> &amp; </a:t>
            </a:r>
            <a:r>
              <a:rPr lang="fr-CH" sz="1400" dirty="0" err="1"/>
              <a:t>methology</a:t>
            </a:r>
            <a:endParaRPr lang="fr-CH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400" dirty="0" err="1"/>
              <a:t>Empty</a:t>
            </a:r>
            <a:r>
              <a:rPr lang="fr-FR" sz="1400" dirty="0"/>
              <a:t> </a:t>
            </a:r>
            <a:r>
              <a:rPr lang="fr-FR" sz="1400" dirty="0" err="1"/>
              <a:t>cells</a:t>
            </a:r>
            <a:r>
              <a:rPr lang="fr-FR" sz="1400" dirty="0"/>
              <a:t> </a:t>
            </a:r>
            <a:r>
              <a:rPr lang="fr-FR" sz="1400" dirty="0" err="1"/>
              <a:t>should</a:t>
            </a:r>
            <a:r>
              <a:rPr lang="fr-FR" sz="1400" dirty="0"/>
              <a:t>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truly</a:t>
            </a:r>
            <a:r>
              <a:rPr lang="fr-FR" sz="1400" dirty="0"/>
              <a:t> </a:t>
            </a:r>
            <a:r>
              <a:rPr lang="fr-FR" sz="1400" dirty="0" err="1"/>
              <a:t>empty</a:t>
            </a:r>
            <a:r>
              <a:rPr lang="fr-FR" sz="1400" dirty="0"/>
              <a:t> and not </a:t>
            </a:r>
            <a:r>
              <a:rPr lang="fr-FR" sz="1400" dirty="0" err="1"/>
              <a:t>with</a:t>
            </a:r>
            <a:r>
              <a:rPr lang="fr-FR" sz="1400" dirty="0"/>
              <a:t> "NA", "Nas",</a:t>
            </a:r>
          </a:p>
        </p:txBody>
      </p: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224C3269-972B-CE81-E955-917BC11E1993}"/>
              </a:ext>
            </a:extLst>
          </p:cNvPr>
          <p:cNvCxnSpPr>
            <a:cxnSpLocks/>
            <a:stCxn id="132" idx="3"/>
            <a:endCxn id="145" idx="1"/>
          </p:cNvCxnSpPr>
          <p:nvPr/>
        </p:nvCxnSpPr>
        <p:spPr>
          <a:xfrm flipV="1">
            <a:off x="8899995" y="2322097"/>
            <a:ext cx="662997" cy="2378796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39">
            <a:extLst>
              <a:ext uri="{FF2B5EF4-FFF2-40B4-BE49-F238E27FC236}">
                <a16:creationId xmlns:a16="http://schemas.microsoft.com/office/drawing/2014/main" id="{7B2FC41D-1FFF-53B9-717B-5B2A45D973F1}"/>
              </a:ext>
            </a:extLst>
          </p:cNvPr>
          <p:cNvCxnSpPr>
            <a:cxnSpLocks/>
          </p:cNvCxnSpPr>
          <p:nvPr/>
        </p:nvCxnSpPr>
        <p:spPr>
          <a:xfrm>
            <a:off x="9202921" y="3726971"/>
            <a:ext cx="2989079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Étoile à 32 branches 156">
            <a:extLst>
              <a:ext uri="{FF2B5EF4-FFF2-40B4-BE49-F238E27FC236}">
                <a16:creationId xmlns:a16="http://schemas.microsoft.com/office/drawing/2014/main" id="{FBE16872-A236-69FA-AFD7-057FE87F2724}"/>
              </a:ext>
            </a:extLst>
          </p:cNvPr>
          <p:cNvSpPr/>
          <p:nvPr/>
        </p:nvSpPr>
        <p:spPr>
          <a:xfrm>
            <a:off x="9789131" y="4282967"/>
            <a:ext cx="1854463" cy="1262699"/>
          </a:xfrm>
          <a:prstGeom prst="star32">
            <a:avLst>
              <a:gd name="adj" fmla="val 42748"/>
            </a:avLst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MIP Local </a:t>
            </a:r>
            <a:r>
              <a:rPr lang="fr-FR" dirty="0" err="1"/>
              <a:t>node</a:t>
            </a:r>
            <a:endParaRPr lang="fr-FR" dirty="0"/>
          </a:p>
        </p:txBody>
      </p:sp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075CADA8-F08F-9531-A373-9F189DD9950A}"/>
              </a:ext>
            </a:extLst>
          </p:cNvPr>
          <p:cNvCxnSpPr>
            <a:cxnSpLocks/>
            <a:stCxn id="138" idx="3"/>
            <a:endCxn id="157" idx="1"/>
          </p:cNvCxnSpPr>
          <p:nvPr/>
        </p:nvCxnSpPr>
        <p:spPr>
          <a:xfrm flipV="1">
            <a:off x="8117923" y="4914317"/>
            <a:ext cx="1671208" cy="1477539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249E4B43-6860-10BA-88F0-46935967D12C}"/>
              </a:ext>
            </a:extLst>
          </p:cNvPr>
          <p:cNvCxnSpPr>
            <a:cxnSpLocks/>
            <a:stCxn id="145" idx="2"/>
            <a:endCxn id="157" idx="0"/>
          </p:cNvCxnSpPr>
          <p:nvPr/>
        </p:nvCxnSpPr>
        <p:spPr>
          <a:xfrm flipH="1">
            <a:off x="10716363" y="3429000"/>
            <a:ext cx="3264" cy="853967"/>
          </a:xfrm>
          <a:prstGeom prst="straightConnector1">
            <a:avLst/>
          </a:prstGeom>
          <a:ln w="1905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Nuage 167">
            <a:extLst>
              <a:ext uri="{FF2B5EF4-FFF2-40B4-BE49-F238E27FC236}">
                <a16:creationId xmlns:a16="http://schemas.microsoft.com/office/drawing/2014/main" id="{BC7308AB-F487-0D89-BAD8-F1C628A01322}"/>
              </a:ext>
            </a:extLst>
          </p:cNvPr>
          <p:cNvSpPr/>
          <p:nvPr/>
        </p:nvSpPr>
        <p:spPr>
          <a:xfrm>
            <a:off x="8264956" y="793856"/>
            <a:ext cx="706990" cy="293305"/>
          </a:xfrm>
          <a:prstGeom prst="clou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dirty="0"/>
              <a:t>DQT</a:t>
            </a:r>
          </a:p>
        </p:txBody>
      </p:sp>
      <p:sp>
        <p:nvSpPr>
          <p:cNvPr id="169" name="Nuage 168">
            <a:extLst>
              <a:ext uri="{FF2B5EF4-FFF2-40B4-BE49-F238E27FC236}">
                <a16:creationId xmlns:a16="http://schemas.microsoft.com/office/drawing/2014/main" id="{36316516-AEC8-CFF9-4D5E-8203077CF5AB}"/>
              </a:ext>
            </a:extLst>
          </p:cNvPr>
          <p:cNvSpPr/>
          <p:nvPr/>
        </p:nvSpPr>
        <p:spPr>
          <a:xfrm>
            <a:off x="11436754" y="738760"/>
            <a:ext cx="706990" cy="293305"/>
          </a:xfrm>
          <a:prstGeom prst="clou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dirty="0"/>
              <a:t>DQT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A9878847-61D9-BCC3-655B-0ED8453E383E}"/>
              </a:ext>
            </a:extLst>
          </p:cNvPr>
          <p:cNvSpPr txBox="1"/>
          <p:nvPr/>
        </p:nvSpPr>
        <p:spPr>
          <a:xfrm>
            <a:off x="10591748" y="6504504"/>
            <a:ext cx="1551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i="1" dirty="0"/>
              <a:t>Data </a:t>
            </a:r>
            <a:r>
              <a:rPr lang="fr-FR" sz="1400" b="1" i="1" dirty="0" err="1"/>
              <a:t>Quality</a:t>
            </a:r>
            <a:r>
              <a:rPr lang="fr-FR" sz="1400" b="1" i="1" dirty="0"/>
              <a:t> Tool</a:t>
            </a:r>
          </a:p>
        </p:txBody>
      </p:sp>
      <p:sp>
        <p:nvSpPr>
          <p:cNvPr id="172" name="ZoneTexte 171">
            <a:extLst>
              <a:ext uri="{FF2B5EF4-FFF2-40B4-BE49-F238E27FC236}">
                <a16:creationId xmlns:a16="http://schemas.microsoft.com/office/drawing/2014/main" id="{A80C5FD0-494D-99CD-CCCB-3D6054BC29BD}"/>
              </a:ext>
            </a:extLst>
          </p:cNvPr>
          <p:cNvSpPr txBox="1"/>
          <p:nvPr/>
        </p:nvSpPr>
        <p:spPr>
          <a:xfrm>
            <a:off x="5630938" y="-4824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75" name="Nuage 174">
            <a:extLst>
              <a:ext uri="{FF2B5EF4-FFF2-40B4-BE49-F238E27FC236}">
                <a16:creationId xmlns:a16="http://schemas.microsoft.com/office/drawing/2014/main" id="{1E1B51A5-DF57-C236-F084-FF01EABBBA77}"/>
              </a:ext>
            </a:extLst>
          </p:cNvPr>
          <p:cNvSpPr/>
          <p:nvPr/>
        </p:nvSpPr>
        <p:spPr>
          <a:xfrm>
            <a:off x="9940027" y="6547614"/>
            <a:ext cx="706990" cy="293305"/>
          </a:xfrm>
          <a:prstGeom prst="clou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dirty="0"/>
              <a:t>DQT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8A856BA3-842D-6482-A822-8C15721B9404}"/>
              </a:ext>
            </a:extLst>
          </p:cNvPr>
          <p:cNvSpPr txBox="1"/>
          <p:nvPr/>
        </p:nvSpPr>
        <p:spPr>
          <a:xfrm>
            <a:off x="5931118" y="2497310"/>
            <a:ext cx="1294353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fr-FR" sz="1200" b="1" dirty="0"/>
              <a:t>2.1. </a:t>
            </a:r>
            <a:r>
              <a:rPr lang="fr-FR" sz="1200" b="1" dirty="0" err="1"/>
              <a:t>Infer</a:t>
            </a:r>
            <a:r>
              <a:rPr lang="fr-FR" sz="1200" b="1" dirty="0"/>
              <a:t> </a:t>
            </a:r>
            <a:r>
              <a:rPr lang="fr-FR" sz="1200" b="1" dirty="0" err="1"/>
              <a:t>your</a:t>
            </a:r>
            <a:r>
              <a:rPr lang="fr-FR" sz="1200" b="1" dirty="0"/>
              <a:t> Data model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5B647DB3-8A33-5F7E-2BA6-45E53BDF3053}"/>
              </a:ext>
            </a:extLst>
          </p:cNvPr>
          <p:cNvSpPr txBox="1"/>
          <p:nvPr/>
        </p:nvSpPr>
        <p:spPr>
          <a:xfrm>
            <a:off x="9908315" y="5676582"/>
            <a:ext cx="1632575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fr-FR" sz="1200" b="1" dirty="0"/>
              <a:t>3.3 </a:t>
            </a:r>
            <a:r>
              <a:rPr lang="fr-FR" sz="1200" b="1" dirty="0" err="1"/>
              <a:t>Upload</a:t>
            </a:r>
            <a:r>
              <a:rPr lang="fr-FR" sz="1200" b="1" dirty="0"/>
              <a:t> files on the MIP local </a:t>
            </a:r>
            <a:r>
              <a:rPr lang="fr-FR" sz="1200" b="1" dirty="0" err="1"/>
              <a:t>node</a:t>
            </a:r>
            <a:endParaRPr lang="fr-FR" sz="1200" b="1" dirty="0"/>
          </a:p>
        </p:txBody>
      </p:sp>
      <p:sp>
        <p:nvSpPr>
          <p:cNvPr id="143" name="Accolade fermante 142">
            <a:extLst>
              <a:ext uri="{FF2B5EF4-FFF2-40B4-BE49-F238E27FC236}">
                <a16:creationId xmlns:a16="http://schemas.microsoft.com/office/drawing/2014/main" id="{70ABD723-3E84-14A7-EE79-C14CE9F75808}"/>
              </a:ext>
            </a:extLst>
          </p:cNvPr>
          <p:cNvSpPr/>
          <p:nvPr/>
        </p:nvSpPr>
        <p:spPr>
          <a:xfrm>
            <a:off x="9139090" y="1064394"/>
            <a:ext cx="488381" cy="2094315"/>
          </a:xfrm>
          <a:prstGeom prst="rightBrace">
            <a:avLst>
              <a:gd name="adj1" fmla="val 58949"/>
              <a:gd name="adj2" fmla="val 55062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80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BACD67-76D1-57C0-E0E6-BC25343F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47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430</Words>
  <Application>Microsoft Macintosh PowerPoint</Application>
  <PresentationFormat>Grand écran</PresentationFormat>
  <Paragraphs>178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Papanikos Georgios</dc:creator>
  <cp:lastModifiedBy>Pauline Ducouret</cp:lastModifiedBy>
  <cp:revision>112</cp:revision>
  <dcterms:created xsi:type="dcterms:W3CDTF">2019-05-10T10:35:58Z</dcterms:created>
  <dcterms:modified xsi:type="dcterms:W3CDTF">2026-06-12T07:41:14Z</dcterms:modified>
</cp:coreProperties>
</file>